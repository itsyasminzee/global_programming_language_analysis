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Open Sauce Heavy" charset="1" panose="00000A00000000000000"/>
      <p:regular r:id="rId24"/>
    </p:embeddedFont>
    <p:embeddedFont>
      <p:font typeface="Open Sauce Light" charset="1" panose="00000400000000000000"/>
      <p:regular r:id="rId25"/>
    </p:embeddedFont>
    <p:embeddedFont>
      <p:font typeface="Open Sauce Bold" charset="1" panose="00000800000000000000"/>
      <p:regular r:id="rId26"/>
    </p:embeddedFont>
    <p:embeddedFont>
      <p:font typeface="Open Sauce" charset="1" panose="00000500000000000000"/>
      <p:regular r:id="rId27"/>
    </p:embeddedFont>
    <p:embeddedFont>
      <p:font typeface="Canva Sans" charset="1" panose="020B0503030501040103"/>
      <p:regular r:id="rId28"/>
    </p:embeddedFont>
    <p:embeddedFont>
      <p:font typeface="Canva Sans Bold" charset="1" panose="020B0803030501040103"/>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12.png" Type="http://schemas.openxmlformats.org/officeDocument/2006/relationships/image"/><Relationship Id="rId4"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19.png" Type="http://schemas.openxmlformats.org/officeDocument/2006/relationships/image"/><Relationship Id="rId8"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2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4.png" Type="http://schemas.openxmlformats.org/officeDocument/2006/relationships/image"/><Relationship Id="rId6" Target="../media/image15.svg" Type="http://schemas.openxmlformats.org/officeDocument/2006/relationships/image"/><Relationship Id="rId7" Target="../media/image2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2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9.png" Type="http://schemas.openxmlformats.org/officeDocument/2006/relationships/image"/><Relationship Id="rId8" Target="https://www.kaggle.com/code/hosseinbadrnezhad/global-programming-languages-intelligence-dataset/input" TargetMode="External" Type="http://schemas.openxmlformats.org/officeDocument/2006/relationships/hyperlink"/></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045163" y="5838757"/>
            <a:ext cx="13317927" cy="3555738"/>
          </a:xfrm>
          <a:prstGeom prst="rect">
            <a:avLst/>
          </a:prstGeom>
        </p:spPr>
        <p:txBody>
          <a:bodyPr anchor="t" rtlCol="false" tIns="0" lIns="0" bIns="0" rIns="0">
            <a:spAutoFit/>
          </a:bodyPr>
          <a:lstStyle/>
          <a:p>
            <a:pPr algn="l">
              <a:lnSpc>
                <a:spcPts val="14323"/>
              </a:lnSpc>
            </a:pPr>
            <a:r>
              <a:rPr lang="en-US" sz="10230" spc="-480" b="true">
                <a:solidFill>
                  <a:srgbClr val="424242"/>
                </a:solidFill>
                <a:latin typeface="Open Sauce Heavy"/>
                <a:ea typeface="Open Sauce Heavy"/>
                <a:cs typeface="Open Sauce Heavy"/>
                <a:sym typeface="Open Sauce Heavy"/>
              </a:rPr>
              <a:t>Global Programming Language Analysis</a:t>
            </a:r>
          </a:p>
        </p:txBody>
      </p:sp>
      <p:grpSp>
        <p:nvGrpSpPr>
          <p:cNvPr name="Group 6" id="6"/>
          <p:cNvGrpSpPr/>
          <p:nvPr/>
        </p:nvGrpSpPr>
        <p:grpSpPr>
          <a:xfrm rot="0">
            <a:off x="12549561" y="8780101"/>
            <a:ext cx="344849" cy="344849"/>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24242"/>
            </a:solidFill>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9" id="9"/>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Freeform 10" id="10"/>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1" id="11"/>
          <p:cNvSpPr txBox="true"/>
          <p:nvPr/>
        </p:nvSpPr>
        <p:spPr>
          <a:xfrm rot="0">
            <a:off x="1675526" y="650408"/>
            <a:ext cx="3426806" cy="587954"/>
          </a:xfrm>
          <a:prstGeom prst="rect">
            <a:avLst/>
          </a:prstGeom>
        </p:spPr>
        <p:txBody>
          <a:bodyPr anchor="t" rtlCol="false" tIns="0" lIns="0" bIns="0" rIns="0">
            <a:spAutoFit/>
          </a:bodyPr>
          <a:lstStyle/>
          <a:p>
            <a:pPr algn="l">
              <a:lnSpc>
                <a:spcPts val="4868"/>
              </a:lnSpc>
            </a:pPr>
          </a:p>
        </p:txBody>
      </p:sp>
      <p:sp>
        <p:nvSpPr>
          <p:cNvPr name="TextBox 12" id="12"/>
          <p:cNvSpPr txBox="true"/>
          <p:nvPr/>
        </p:nvSpPr>
        <p:spPr>
          <a:xfrm rot="0">
            <a:off x="14485641" y="7418832"/>
            <a:ext cx="3450154" cy="1706118"/>
          </a:xfrm>
          <a:prstGeom prst="rect">
            <a:avLst/>
          </a:prstGeom>
        </p:spPr>
        <p:txBody>
          <a:bodyPr anchor="t" rtlCol="false" tIns="0" lIns="0" bIns="0" rIns="0">
            <a:spAutoFit/>
          </a:bodyPr>
          <a:lstStyle/>
          <a:p>
            <a:pPr algn="l">
              <a:lnSpc>
                <a:spcPts val="4536"/>
              </a:lnSpc>
            </a:pPr>
            <a:r>
              <a:rPr lang="en-US" sz="3600" spc="-201">
                <a:solidFill>
                  <a:srgbClr val="424242"/>
                </a:solidFill>
                <a:latin typeface="Open Sauce Light"/>
                <a:ea typeface="Open Sauce Light"/>
                <a:cs typeface="Open Sauce Light"/>
                <a:sym typeface="Open Sauce Light"/>
              </a:rPr>
              <a:t>Trends &amp; </a:t>
            </a:r>
          </a:p>
          <a:p>
            <a:pPr algn="l">
              <a:lnSpc>
                <a:spcPts val="4536"/>
              </a:lnSpc>
            </a:pPr>
            <a:r>
              <a:rPr lang="en-US" sz="3600" spc="-201">
                <a:solidFill>
                  <a:srgbClr val="424242"/>
                </a:solidFill>
                <a:latin typeface="Open Sauce Light"/>
                <a:ea typeface="Open Sauce Light"/>
                <a:cs typeface="Open Sauce Light"/>
                <a:sym typeface="Open Sauce Light"/>
              </a:rPr>
              <a:t>Market </a:t>
            </a:r>
          </a:p>
          <a:p>
            <a:pPr algn="l">
              <a:lnSpc>
                <a:spcPts val="4536"/>
              </a:lnSpc>
            </a:pPr>
            <a:r>
              <a:rPr lang="en-US" sz="3600" spc="-201">
                <a:solidFill>
                  <a:srgbClr val="424242"/>
                </a:solidFill>
                <a:latin typeface="Open Sauce Light"/>
                <a:ea typeface="Open Sauce Light"/>
                <a:cs typeface="Open Sauce Light"/>
                <a:sym typeface="Open Sauce Light"/>
              </a:rPr>
              <a:t>Insights</a:t>
            </a:r>
          </a:p>
        </p:txBody>
      </p:sp>
      <p:sp>
        <p:nvSpPr>
          <p:cNvPr name="TextBox 13" id="13"/>
          <p:cNvSpPr txBox="true"/>
          <p:nvPr/>
        </p:nvSpPr>
        <p:spPr>
          <a:xfrm rot="0">
            <a:off x="13809146" y="622579"/>
            <a:ext cx="3450154" cy="281559"/>
          </a:xfrm>
          <a:prstGeom prst="rect">
            <a:avLst/>
          </a:prstGeom>
        </p:spPr>
        <p:txBody>
          <a:bodyPr anchor="t" rtlCol="false" tIns="0" lIns="0" bIns="0" rIns="0">
            <a:spAutoFit/>
          </a:bodyPr>
          <a:lstStyle/>
          <a:p>
            <a:pPr algn="r">
              <a:lnSpc>
                <a:spcPts val="2268"/>
              </a:lnSpc>
            </a:pPr>
            <a:r>
              <a:rPr lang="en-US" b="true" sz="1800" spc="-100">
                <a:solidFill>
                  <a:srgbClr val="424242"/>
                </a:solidFill>
                <a:latin typeface="Open Sauce Bold"/>
                <a:ea typeface="Open Sauce Bold"/>
                <a:cs typeface="Open Sauce Bold"/>
                <a:sym typeface="Open Sauce Bold"/>
              </a:rPr>
              <a:t>Presented by :</a:t>
            </a:r>
          </a:p>
        </p:txBody>
      </p:sp>
      <p:sp>
        <p:nvSpPr>
          <p:cNvPr name="TextBox 14" id="14"/>
          <p:cNvSpPr txBox="true"/>
          <p:nvPr/>
        </p:nvSpPr>
        <p:spPr>
          <a:xfrm rot="0">
            <a:off x="13809146" y="920227"/>
            <a:ext cx="3450154" cy="318135"/>
          </a:xfrm>
          <a:prstGeom prst="rect">
            <a:avLst/>
          </a:prstGeom>
        </p:spPr>
        <p:txBody>
          <a:bodyPr anchor="t" rtlCol="false" tIns="0" lIns="0" bIns="0" rIns="0">
            <a:spAutoFit/>
          </a:bodyPr>
          <a:lstStyle/>
          <a:p>
            <a:pPr algn="r">
              <a:lnSpc>
                <a:spcPts val="2520"/>
              </a:lnSpc>
            </a:pPr>
            <a:r>
              <a:rPr lang="en-US" sz="2000" spc="-112">
                <a:solidFill>
                  <a:srgbClr val="424242"/>
                </a:solidFill>
                <a:latin typeface="Open Sauce"/>
                <a:ea typeface="Open Sauce"/>
                <a:cs typeface="Open Sauce"/>
                <a:sym typeface="Open Sauce"/>
              </a:rPr>
              <a:t>Yasmin Zacarias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177090" y="2231409"/>
            <a:ext cx="16714740" cy="10818995"/>
          </a:xfrm>
          <a:custGeom>
            <a:avLst/>
            <a:gdLst/>
            <a:ahLst/>
            <a:cxnLst/>
            <a:rect r="r" b="b" t="t" l="l"/>
            <a:pathLst>
              <a:path h="10818995" w="16714740">
                <a:moveTo>
                  <a:pt x="0" y="0"/>
                </a:moveTo>
                <a:lnTo>
                  <a:pt x="16714740" y="0"/>
                </a:lnTo>
                <a:lnTo>
                  <a:pt x="16714740" y="10818995"/>
                </a:lnTo>
                <a:lnTo>
                  <a:pt x="0" y="10818995"/>
                </a:lnTo>
                <a:lnTo>
                  <a:pt x="0" y="0"/>
                </a:lnTo>
                <a:close/>
              </a:path>
            </a:pathLst>
          </a:custGeom>
          <a:blipFill>
            <a:blip r:embed="rId2">
              <a:alphaModFix amt="24000"/>
            </a:blip>
            <a:stretch>
              <a:fillRect l="0" t="0" r="0" b="0"/>
            </a:stretch>
          </a:blipFill>
        </p:spPr>
      </p:sp>
      <p:sp>
        <p:nvSpPr>
          <p:cNvPr name="TextBox 3" id="3"/>
          <p:cNvSpPr txBox="true"/>
          <p:nvPr/>
        </p:nvSpPr>
        <p:spPr>
          <a:xfrm rot="0">
            <a:off x="1509796" y="1145909"/>
            <a:ext cx="16230600" cy="1284876"/>
          </a:xfrm>
          <a:prstGeom prst="rect">
            <a:avLst/>
          </a:prstGeom>
        </p:spPr>
        <p:txBody>
          <a:bodyPr anchor="t" rtlCol="false" tIns="0" lIns="0" bIns="0" rIns="0">
            <a:spAutoFit/>
          </a:bodyPr>
          <a:lstStyle/>
          <a:p>
            <a:pPr algn="l">
              <a:lnSpc>
                <a:spcPts val="9461"/>
              </a:lnSpc>
            </a:pPr>
            <a:r>
              <a:rPr lang="en-US" sz="10065" spc="-473" b="true">
                <a:solidFill>
                  <a:srgbClr val="424242"/>
                </a:solidFill>
                <a:latin typeface="Open Sauce Heavy"/>
                <a:ea typeface="Open Sauce Heavy"/>
                <a:cs typeface="Open Sauce Heavy"/>
                <a:sym typeface="Open Sauce Heavy"/>
              </a:rPr>
              <a:t>Dataset Overview</a:t>
            </a:r>
          </a:p>
        </p:txBody>
      </p:sp>
      <p:grpSp>
        <p:nvGrpSpPr>
          <p:cNvPr name="Group 4" id="4"/>
          <p:cNvGrpSpPr/>
          <p:nvPr/>
        </p:nvGrpSpPr>
        <p:grpSpPr>
          <a:xfrm rot="0">
            <a:off x="1509796" y="3383285"/>
            <a:ext cx="4520265" cy="2260421"/>
            <a:chOff x="0" y="0"/>
            <a:chExt cx="1497417" cy="748804"/>
          </a:xfrm>
        </p:grpSpPr>
        <p:sp>
          <p:nvSpPr>
            <p:cNvPr name="Freeform 5" id="5"/>
            <p:cNvSpPr/>
            <p:nvPr/>
          </p:nvSpPr>
          <p:spPr>
            <a:xfrm flipH="false" flipV="false" rot="0">
              <a:off x="0" y="0"/>
              <a:ext cx="1497417" cy="748804"/>
            </a:xfrm>
            <a:custGeom>
              <a:avLst/>
              <a:gdLst/>
              <a:ahLst/>
              <a:cxnLst/>
              <a:rect r="r" b="b" t="t" l="l"/>
              <a:pathLst>
                <a:path h="748804" w="1497417">
                  <a:moveTo>
                    <a:pt x="49669" y="0"/>
                  </a:moveTo>
                  <a:lnTo>
                    <a:pt x="1447748" y="0"/>
                  </a:lnTo>
                  <a:cubicBezTo>
                    <a:pt x="1460921" y="0"/>
                    <a:pt x="1473555" y="5233"/>
                    <a:pt x="1482869" y="14548"/>
                  </a:cubicBezTo>
                  <a:cubicBezTo>
                    <a:pt x="1492184" y="23862"/>
                    <a:pt x="1497417" y="36496"/>
                    <a:pt x="1497417" y="49669"/>
                  </a:cubicBezTo>
                  <a:lnTo>
                    <a:pt x="1497417" y="699135"/>
                  </a:lnTo>
                  <a:cubicBezTo>
                    <a:pt x="1497417" y="712308"/>
                    <a:pt x="1492184" y="724942"/>
                    <a:pt x="1482869" y="734256"/>
                  </a:cubicBezTo>
                  <a:cubicBezTo>
                    <a:pt x="1473555" y="743571"/>
                    <a:pt x="1460921" y="748804"/>
                    <a:pt x="1447748" y="748804"/>
                  </a:cubicBezTo>
                  <a:lnTo>
                    <a:pt x="49669" y="748804"/>
                  </a:lnTo>
                  <a:cubicBezTo>
                    <a:pt x="36496" y="748804"/>
                    <a:pt x="23862" y="743571"/>
                    <a:pt x="14548" y="734256"/>
                  </a:cubicBezTo>
                  <a:cubicBezTo>
                    <a:pt x="5233" y="724942"/>
                    <a:pt x="0" y="712308"/>
                    <a:pt x="0" y="699135"/>
                  </a:cubicBezTo>
                  <a:lnTo>
                    <a:pt x="0" y="49669"/>
                  </a:lnTo>
                  <a:cubicBezTo>
                    <a:pt x="0" y="36496"/>
                    <a:pt x="5233" y="23862"/>
                    <a:pt x="14548" y="14548"/>
                  </a:cubicBezTo>
                  <a:cubicBezTo>
                    <a:pt x="23862" y="5233"/>
                    <a:pt x="36496" y="0"/>
                    <a:pt x="49669"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6" id="6"/>
            <p:cNvSpPr txBox="true"/>
            <p:nvPr/>
          </p:nvSpPr>
          <p:spPr>
            <a:xfrm>
              <a:off x="0" y="-28575"/>
              <a:ext cx="1497417" cy="777379"/>
            </a:xfrm>
            <a:prstGeom prst="rect">
              <a:avLst/>
            </a:prstGeom>
          </p:spPr>
          <p:txBody>
            <a:bodyPr anchor="ctr" rtlCol="false" tIns="50800" lIns="50800" bIns="50800" rIns="50800"/>
            <a:lstStyle/>
            <a:p>
              <a:pPr algn="ctr">
                <a:lnSpc>
                  <a:spcPts val="2015"/>
                </a:lnSpc>
              </a:pPr>
            </a:p>
          </p:txBody>
        </p:sp>
      </p:grpSp>
      <p:grpSp>
        <p:nvGrpSpPr>
          <p:cNvPr name="Group 7" id="7"/>
          <p:cNvGrpSpPr/>
          <p:nvPr/>
        </p:nvGrpSpPr>
        <p:grpSpPr>
          <a:xfrm rot="0">
            <a:off x="1732824" y="3476047"/>
            <a:ext cx="935680" cy="639505"/>
            <a:chOff x="0" y="0"/>
            <a:chExt cx="309960" cy="211847"/>
          </a:xfrm>
        </p:grpSpPr>
        <p:sp>
          <p:nvSpPr>
            <p:cNvPr name="Freeform 8" id="8"/>
            <p:cNvSpPr/>
            <p:nvPr/>
          </p:nvSpPr>
          <p:spPr>
            <a:xfrm flipH="false" flipV="false" rot="0">
              <a:off x="0" y="0"/>
              <a:ext cx="309960" cy="211847"/>
            </a:xfrm>
            <a:custGeom>
              <a:avLst/>
              <a:gdLst/>
              <a:ahLst/>
              <a:cxnLst/>
              <a:rect r="r" b="b" t="t" l="l"/>
              <a:pathLst>
                <a:path h="211847" w="309960">
                  <a:moveTo>
                    <a:pt x="105924" y="0"/>
                  </a:moveTo>
                  <a:lnTo>
                    <a:pt x="204037" y="0"/>
                  </a:lnTo>
                  <a:cubicBezTo>
                    <a:pt x="232129" y="0"/>
                    <a:pt x="259071" y="11160"/>
                    <a:pt x="278936" y="31024"/>
                  </a:cubicBezTo>
                  <a:cubicBezTo>
                    <a:pt x="298800" y="50889"/>
                    <a:pt x="309960" y="77831"/>
                    <a:pt x="309960" y="105924"/>
                  </a:cubicBezTo>
                  <a:lnTo>
                    <a:pt x="309960" y="105924"/>
                  </a:lnTo>
                  <a:cubicBezTo>
                    <a:pt x="309960" y="164424"/>
                    <a:pt x="262537" y="211847"/>
                    <a:pt x="204037"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9" id="9"/>
            <p:cNvSpPr txBox="true"/>
            <p:nvPr/>
          </p:nvSpPr>
          <p:spPr>
            <a:xfrm>
              <a:off x="0" y="-28575"/>
              <a:ext cx="309960" cy="240422"/>
            </a:xfrm>
            <a:prstGeom prst="rect">
              <a:avLst/>
            </a:prstGeom>
          </p:spPr>
          <p:txBody>
            <a:bodyPr anchor="ctr" rtlCol="false" tIns="50800" lIns="50800" bIns="50800" rIns="50800"/>
            <a:lstStyle/>
            <a:p>
              <a:pPr algn="ctr">
                <a:lnSpc>
                  <a:spcPts val="2015"/>
                </a:lnSpc>
              </a:pPr>
            </a:p>
          </p:txBody>
        </p:sp>
      </p:grpSp>
      <p:grpSp>
        <p:nvGrpSpPr>
          <p:cNvPr name="Group 10" id="10"/>
          <p:cNvGrpSpPr/>
          <p:nvPr/>
        </p:nvGrpSpPr>
        <p:grpSpPr>
          <a:xfrm rot="0">
            <a:off x="6574095" y="3383285"/>
            <a:ext cx="4520265" cy="2260421"/>
            <a:chOff x="0" y="0"/>
            <a:chExt cx="1521122" cy="760658"/>
          </a:xfrm>
        </p:grpSpPr>
        <p:sp>
          <p:nvSpPr>
            <p:cNvPr name="Freeform 11" id="11"/>
            <p:cNvSpPr/>
            <p:nvPr/>
          </p:nvSpPr>
          <p:spPr>
            <a:xfrm flipH="false" flipV="false" rot="0">
              <a:off x="0" y="0"/>
              <a:ext cx="1521122" cy="760658"/>
            </a:xfrm>
            <a:custGeom>
              <a:avLst/>
              <a:gdLst/>
              <a:ahLst/>
              <a:cxnLst/>
              <a:rect r="r" b="b" t="t" l="l"/>
              <a:pathLst>
                <a:path h="760658" w="1521122">
                  <a:moveTo>
                    <a:pt x="49669" y="0"/>
                  </a:moveTo>
                  <a:lnTo>
                    <a:pt x="1471453" y="0"/>
                  </a:lnTo>
                  <a:cubicBezTo>
                    <a:pt x="1484626" y="0"/>
                    <a:pt x="1497260" y="5233"/>
                    <a:pt x="1506574" y="14548"/>
                  </a:cubicBezTo>
                  <a:cubicBezTo>
                    <a:pt x="1515889" y="23862"/>
                    <a:pt x="1521122" y="36496"/>
                    <a:pt x="1521122" y="49669"/>
                  </a:cubicBezTo>
                  <a:lnTo>
                    <a:pt x="1521122" y="710989"/>
                  </a:lnTo>
                  <a:cubicBezTo>
                    <a:pt x="1521122" y="724162"/>
                    <a:pt x="1515889" y="736796"/>
                    <a:pt x="1506574" y="746110"/>
                  </a:cubicBezTo>
                  <a:cubicBezTo>
                    <a:pt x="1497260" y="755425"/>
                    <a:pt x="1484626" y="760658"/>
                    <a:pt x="1471453" y="760658"/>
                  </a:cubicBezTo>
                  <a:lnTo>
                    <a:pt x="49669" y="760658"/>
                  </a:lnTo>
                  <a:cubicBezTo>
                    <a:pt x="36496" y="760658"/>
                    <a:pt x="23862" y="755425"/>
                    <a:pt x="14548" y="746110"/>
                  </a:cubicBezTo>
                  <a:cubicBezTo>
                    <a:pt x="5233" y="736796"/>
                    <a:pt x="0" y="724162"/>
                    <a:pt x="0" y="710989"/>
                  </a:cubicBezTo>
                  <a:lnTo>
                    <a:pt x="0" y="49669"/>
                  </a:lnTo>
                  <a:cubicBezTo>
                    <a:pt x="0" y="36496"/>
                    <a:pt x="5233" y="23862"/>
                    <a:pt x="14548" y="14548"/>
                  </a:cubicBezTo>
                  <a:cubicBezTo>
                    <a:pt x="23862" y="5233"/>
                    <a:pt x="36496" y="0"/>
                    <a:pt x="49669" y="0"/>
                  </a:cubicBezTo>
                  <a:close/>
                </a:path>
              </a:pathLst>
            </a:custGeom>
            <a:solidFill>
              <a:srgbClr val="D0D7DD"/>
            </a:solidFill>
            <a:ln w="19050" cap="rnd">
              <a:solidFill>
                <a:srgbClr val="424242"/>
              </a:solidFill>
              <a:prstDash val="solid"/>
              <a:round/>
            </a:ln>
          </p:spPr>
        </p:sp>
        <p:sp>
          <p:nvSpPr>
            <p:cNvPr name="TextBox 12" id="12"/>
            <p:cNvSpPr txBox="true"/>
            <p:nvPr/>
          </p:nvSpPr>
          <p:spPr>
            <a:xfrm>
              <a:off x="0" y="-28575"/>
              <a:ext cx="1521122" cy="789233"/>
            </a:xfrm>
            <a:prstGeom prst="rect">
              <a:avLst/>
            </a:prstGeom>
          </p:spPr>
          <p:txBody>
            <a:bodyPr anchor="ctr" rtlCol="false" tIns="50800" lIns="50800" bIns="50800" rIns="50800"/>
            <a:lstStyle/>
            <a:p>
              <a:pPr algn="ctr">
                <a:lnSpc>
                  <a:spcPts val="2015"/>
                </a:lnSpc>
              </a:pPr>
            </a:p>
          </p:txBody>
        </p:sp>
      </p:grpSp>
      <p:grpSp>
        <p:nvGrpSpPr>
          <p:cNvPr name="Group 13" id="13"/>
          <p:cNvGrpSpPr/>
          <p:nvPr/>
        </p:nvGrpSpPr>
        <p:grpSpPr>
          <a:xfrm rot="0">
            <a:off x="6867462" y="3524114"/>
            <a:ext cx="747726" cy="629539"/>
            <a:chOff x="0" y="0"/>
            <a:chExt cx="251618" cy="211847"/>
          </a:xfrm>
        </p:grpSpPr>
        <p:sp>
          <p:nvSpPr>
            <p:cNvPr name="Freeform 14" id="14"/>
            <p:cNvSpPr/>
            <p:nvPr/>
          </p:nvSpPr>
          <p:spPr>
            <a:xfrm flipH="false" flipV="false" rot="0">
              <a:off x="0" y="0"/>
              <a:ext cx="251618" cy="211847"/>
            </a:xfrm>
            <a:custGeom>
              <a:avLst/>
              <a:gdLst/>
              <a:ahLst/>
              <a:cxnLst/>
              <a:rect r="r" b="b" t="t" l="l"/>
              <a:pathLst>
                <a:path h="211847" w="251618">
                  <a:moveTo>
                    <a:pt x="105924" y="0"/>
                  </a:moveTo>
                  <a:lnTo>
                    <a:pt x="145695" y="0"/>
                  </a:lnTo>
                  <a:cubicBezTo>
                    <a:pt x="173787" y="0"/>
                    <a:pt x="200730" y="11160"/>
                    <a:pt x="220594" y="31024"/>
                  </a:cubicBezTo>
                  <a:cubicBezTo>
                    <a:pt x="240459" y="50889"/>
                    <a:pt x="251618" y="77831"/>
                    <a:pt x="251618" y="105924"/>
                  </a:cubicBezTo>
                  <a:lnTo>
                    <a:pt x="251618" y="105924"/>
                  </a:lnTo>
                  <a:cubicBezTo>
                    <a:pt x="251618" y="164424"/>
                    <a:pt x="204195" y="211847"/>
                    <a:pt x="145695"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15" id="15"/>
            <p:cNvSpPr txBox="true"/>
            <p:nvPr/>
          </p:nvSpPr>
          <p:spPr>
            <a:xfrm>
              <a:off x="0" y="-28575"/>
              <a:ext cx="251618" cy="240422"/>
            </a:xfrm>
            <a:prstGeom prst="rect">
              <a:avLst/>
            </a:prstGeom>
          </p:spPr>
          <p:txBody>
            <a:bodyPr anchor="ctr" rtlCol="false" tIns="50800" lIns="50800" bIns="50800" rIns="50800"/>
            <a:lstStyle/>
            <a:p>
              <a:pPr algn="ctr">
                <a:lnSpc>
                  <a:spcPts val="2015"/>
                </a:lnSpc>
              </a:pPr>
            </a:p>
          </p:txBody>
        </p:sp>
      </p:grpSp>
      <p:sp>
        <p:nvSpPr>
          <p:cNvPr name="TextBox 16" id="16"/>
          <p:cNvSpPr txBox="true"/>
          <p:nvPr/>
        </p:nvSpPr>
        <p:spPr>
          <a:xfrm rot="0">
            <a:off x="6965909" y="3695038"/>
            <a:ext cx="530912" cy="361829"/>
          </a:xfrm>
          <a:prstGeom prst="rect">
            <a:avLst/>
          </a:prstGeom>
        </p:spPr>
        <p:txBody>
          <a:bodyPr anchor="t" rtlCol="false" tIns="0" lIns="0" bIns="0" rIns="0">
            <a:spAutoFit/>
          </a:bodyPr>
          <a:lstStyle/>
          <a:p>
            <a:pPr algn="ctr">
              <a:lnSpc>
                <a:spcPts val="2648"/>
              </a:lnSpc>
            </a:pPr>
            <a:r>
              <a:rPr lang="en-US" b="true" sz="2817" spc="-132">
                <a:solidFill>
                  <a:srgbClr val="424242"/>
                </a:solidFill>
                <a:latin typeface="Open Sauce Heavy"/>
                <a:ea typeface="Open Sauce Heavy"/>
                <a:cs typeface="Open Sauce Heavy"/>
                <a:sym typeface="Open Sauce Heavy"/>
              </a:rPr>
              <a:t>02</a:t>
            </a:r>
          </a:p>
        </p:txBody>
      </p:sp>
      <p:sp>
        <p:nvSpPr>
          <p:cNvPr name="TextBox 17" id="17"/>
          <p:cNvSpPr txBox="true"/>
          <p:nvPr/>
        </p:nvSpPr>
        <p:spPr>
          <a:xfrm rot="0">
            <a:off x="7406226" y="4257526"/>
            <a:ext cx="3119521" cy="359736"/>
          </a:xfrm>
          <a:prstGeom prst="rect">
            <a:avLst/>
          </a:prstGeom>
        </p:spPr>
        <p:txBody>
          <a:bodyPr anchor="t" rtlCol="false" tIns="0" lIns="0" bIns="0" rIns="0">
            <a:spAutoFit/>
          </a:bodyPr>
          <a:lstStyle/>
          <a:p>
            <a:pPr algn="l">
              <a:lnSpc>
                <a:spcPts val="2648"/>
              </a:lnSpc>
            </a:pPr>
            <a:r>
              <a:rPr lang="en-US" sz="2817" spc="-132" b="true">
                <a:solidFill>
                  <a:srgbClr val="424242"/>
                </a:solidFill>
                <a:latin typeface="Open Sauce Heavy"/>
                <a:ea typeface="Open Sauce Heavy"/>
                <a:cs typeface="Open Sauce Heavy"/>
                <a:sym typeface="Open Sauce Heavy"/>
              </a:rPr>
              <a:t>Python</a:t>
            </a:r>
          </a:p>
        </p:txBody>
      </p:sp>
      <p:grpSp>
        <p:nvGrpSpPr>
          <p:cNvPr name="Group 18" id="18"/>
          <p:cNvGrpSpPr/>
          <p:nvPr/>
        </p:nvGrpSpPr>
        <p:grpSpPr>
          <a:xfrm rot="0">
            <a:off x="1656125" y="6358081"/>
            <a:ext cx="4520265" cy="2260421"/>
            <a:chOff x="0" y="0"/>
            <a:chExt cx="6027021" cy="3013894"/>
          </a:xfrm>
        </p:grpSpPr>
        <p:grpSp>
          <p:nvGrpSpPr>
            <p:cNvPr name="Group 19" id="19"/>
            <p:cNvGrpSpPr/>
            <p:nvPr/>
          </p:nvGrpSpPr>
          <p:grpSpPr>
            <a:xfrm rot="0">
              <a:off x="0" y="0"/>
              <a:ext cx="6027021" cy="3013894"/>
              <a:chOff x="0" y="0"/>
              <a:chExt cx="1521122" cy="760658"/>
            </a:xfrm>
          </p:grpSpPr>
          <p:sp>
            <p:nvSpPr>
              <p:cNvPr name="Freeform 20" id="20"/>
              <p:cNvSpPr/>
              <p:nvPr/>
            </p:nvSpPr>
            <p:spPr>
              <a:xfrm flipH="false" flipV="false" rot="0">
                <a:off x="0" y="0"/>
                <a:ext cx="1521122" cy="760658"/>
              </a:xfrm>
              <a:custGeom>
                <a:avLst/>
                <a:gdLst/>
                <a:ahLst/>
                <a:cxnLst/>
                <a:rect r="r" b="b" t="t" l="l"/>
                <a:pathLst>
                  <a:path h="760658" w="1521122">
                    <a:moveTo>
                      <a:pt x="49669" y="0"/>
                    </a:moveTo>
                    <a:lnTo>
                      <a:pt x="1471453" y="0"/>
                    </a:lnTo>
                    <a:cubicBezTo>
                      <a:pt x="1484626" y="0"/>
                      <a:pt x="1497260" y="5233"/>
                      <a:pt x="1506574" y="14548"/>
                    </a:cubicBezTo>
                    <a:cubicBezTo>
                      <a:pt x="1515889" y="23862"/>
                      <a:pt x="1521122" y="36496"/>
                      <a:pt x="1521122" y="49669"/>
                    </a:cubicBezTo>
                    <a:lnTo>
                      <a:pt x="1521122" y="710989"/>
                    </a:lnTo>
                    <a:cubicBezTo>
                      <a:pt x="1521122" y="724162"/>
                      <a:pt x="1515889" y="736796"/>
                      <a:pt x="1506574" y="746110"/>
                    </a:cubicBezTo>
                    <a:cubicBezTo>
                      <a:pt x="1497260" y="755425"/>
                      <a:pt x="1484626" y="760658"/>
                      <a:pt x="1471453" y="760658"/>
                    </a:cubicBezTo>
                    <a:lnTo>
                      <a:pt x="49669" y="760658"/>
                    </a:lnTo>
                    <a:cubicBezTo>
                      <a:pt x="36496" y="760658"/>
                      <a:pt x="23862" y="755425"/>
                      <a:pt x="14548" y="746110"/>
                    </a:cubicBezTo>
                    <a:cubicBezTo>
                      <a:pt x="5233" y="736796"/>
                      <a:pt x="0" y="724162"/>
                      <a:pt x="0" y="710989"/>
                    </a:cubicBezTo>
                    <a:lnTo>
                      <a:pt x="0" y="49669"/>
                    </a:lnTo>
                    <a:cubicBezTo>
                      <a:pt x="0" y="36496"/>
                      <a:pt x="5233" y="23862"/>
                      <a:pt x="14548" y="14548"/>
                    </a:cubicBezTo>
                    <a:cubicBezTo>
                      <a:pt x="23862" y="5233"/>
                      <a:pt x="36496" y="0"/>
                      <a:pt x="49669" y="0"/>
                    </a:cubicBezTo>
                    <a:close/>
                  </a:path>
                </a:pathLst>
              </a:custGeom>
              <a:solidFill>
                <a:srgbClr val="D0D7DD"/>
              </a:solidFill>
              <a:ln w="19050" cap="rnd">
                <a:solidFill>
                  <a:srgbClr val="424242"/>
                </a:solidFill>
                <a:prstDash val="solid"/>
                <a:round/>
              </a:ln>
            </p:spPr>
          </p:sp>
          <p:sp>
            <p:nvSpPr>
              <p:cNvPr name="TextBox 21" id="21"/>
              <p:cNvSpPr txBox="true"/>
              <p:nvPr/>
            </p:nvSpPr>
            <p:spPr>
              <a:xfrm>
                <a:off x="0" y="-28575"/>
                <a:ext cx="1521122" cy="789233"/>
              </a:xfrm>
              <a:prstGeom prst="rect">
                <a:avLst/>
              </a:prstGeom>
            </p:spPr>
            <p:txBody>
              <a:bodyPr anchor="ctr" rtlCol="false" tIns="50800" lIns="50800" bIns="50800" rIns="50800"/>
              <a:lstStyle/>
              <a:p>
                <a:pPr algn="ctr">
                  <a:lnSpc>
                    <a:spcPts val="2015"/>
                  </a:lnSpc>
                </a:pPr>
              </a:p>
            </p:txBody>
          </p:sp>
        </p:grpSp>
        <p:grpSp>
          <p:nvGrpSpPr>
            <p:cNvPr name="Group 22" id="22"/>
            <p:cNvGrpSpPr/>
            <p:nvPr/>
          </p:nvGrpSpPr>
          <p:grpSpPr>
            <a:xfrm rot="0">
              <a:off x="403856" y="213171"/>
              <a:ext cx="996968" cy="839386"/>
              <a:chOff x="0" y="0"/>
              <a:chExt cx="251618" cy="211847"/>
            </a:xfrm>
          </p:grpSpPr>
          <p:sp>
            <p:nvSpPr>
              <p:cNvPr name="Freeform 23" id="23"/>
              <p:cNvSpPr/>
              <p:nvPr/>
            </p:nvSpPr>
            <p:spPr>
              <a:xfrm flipH="false" flipV="false" rot="0">
                <a:off x="0" y="0"/>
                <a:ext cx="251618" cy="211847"/>
              </a:xfrm>
              <a:custGeom>
                <a:avLst/>
                <a:gdLst/>
                <a:ahLst/>
                <a:cxnLst/>
                <a:rect r="r" b="b" t="t" l="l"/>
                <a:pathLst>
                  <a:path h="211847" w="251618">
                    <a:moveTo>
                      <a:pt x="105924" y="0"/>
                    </a:moveTo>
                    <a:lnTo>
                      <a:pt x="145695" y="0"/>
                    </a:lnTo>
                    <a:cubicBezTo>
                      <a:pt x="173787" y="0"/>
                      <a:pt x="200730" y="11160"/>
                      <a:pt x="220594" y="31024"/>
                    </a:cubicBezTo>
                    <a:cubicBezTo>
                      <a:pt x="240459" y="50889"/>
                      <a:pt x="251618" y="77831"/>
                      <a:pt x="251618" y="105924"/>
                    </a:cubicBezTo>
                    <a:lnTo>
                      <a:pt x="251618" y="105924"/>
                    </a:lnTo>
                    <a:cubicBezTo>
                      <a:pt x="251618" y="164424"/>
                      <a:pt x="204195" y="211847"/>
                      <a:pt x="145695"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24" id="24"/>
              <p:cNvSpPr txBox="true"/>
              <p:nvPr/>
            </p:nvSpPr>
            <p:spPr>
              <a:xfrm>
                <a:off x="0" y="-28575"/>
                <a:ext cx="251618" cy="240422"/>
              </a:xfrm>
              <a:prstGeom prst="rect">
                <a:avLst/>
              </a:prstGeom>
            </p:spPr>
            <p:txBody>
              <a:bodyPr anchor="ctr" rtlCol="false" tIns="50800" lIns="50800" bIns="50800" rIns="50800"/>
              <a:lstStyle/>
              <a:p>
                <a:pPr algn="ctr">
                  <a:lnSpc>
                    <a:spcPts val="2015"/>
                  </a:lnSpc>
                </a:pPr>
              </a:p>
            </p:txBody>
          </p:sp>
        </p:grpSp>
        <p:sp>
          <p:nvSpPr>
            <p:cNvPr name="TextBox 25" id="25"/>
            <p:cNvSpPr txBox="true"/>
            <p:nvPr/>
          </p:nvSpPr>
          <p:spPr>
            <a:xfrm rot="0">
              <a:off x="535118" y="418846"/>
              <a:ext cx="707883" cy="504664"/>
            </a:xfrm>
            <a:prstGeom prst="rect">
              <a:avLst/>
            </a:prstGeom>
          </p:spPr>
          <p:txBody>
            <a:bodyPr anchor="t" rtlCol="false" tIns="0" lIns="0" bIns="0" rIns="0">
              <a:spAutoFit/>
            </a:bodyPr>
            <a:lstStyle/>
            <a:p>
              <a:pPr algn="ctr">
                <a:lnSpc>
                  <a:spcPts val="2648"/>
                </a:lnSpc>
              </a:pPr>
              <a:r>
                <a:rPr lang="en-US" b="true" sz="2817" spc="-132">
                  <a:solidFill>
                    <a:srgbClr val="424242"/>
                  </a:solidFill>
                  <a:latin typeface="Open Sauce Heavy"/>
                  <a:ea typeface="Open Sauce Heavy"/>
                  <a:cs typeface="Open Sauce Heavy"/>
                  <a:sym typeface="Open Sauce Heavy"/>
                </a:rPr>
                <a:t>04</a:t>
              </a:r>
            </a:p>
          </p:txBody>
        </p:sp>
        <p:sp>
          <p:nvSpPr>
            <p:cNvPr name="TextBox 26" id="26"/>
            <p:cNvSpPr txBox="true"/>
            <p:nvPr/>
          </p:nvSpPr>
          <p:spPr>
            <a:xfrm rot="0">
              <a:off x="1243001" y="1287953"/>
              <a:ext cx="4159361" cy="504664"/>
            </a:xfrm>
            <a:prstGeom prst="rect">
              <a:avLst/>
            </a:prstGeom>
          </p:spPr>
          <p:txBody>
            <a:bodyPr anchor="t" rtlCol="false" tIns="0" lIns="0" bIns="0" rIns="0">
              <a:spAutoFit/>
            </a:bodyPr>
            <a:lstStyle/>
            <a:p>
              <a:pPr algn="l">
                <a:lnSpc>
                  <a:spcPts val="2648"/>
                </a:lnSpc>
              </a:pPr>
              <a:r>
                <a:rPr lang="en-US" sz="2817" spc="-132" b="true">
                  <a:solidFill>
                    <a:srgbClr val="424242"/>
                  </a:solidFill>
                  <a:latin typeface="Open Sauce Heavy"/>
                  <a:ea typeface="Open Sauce Heavy"/>
                  <a:cs typeface="Open Sauce Heavy"/>
                  <a:sym typeface="Open Sauce Heavy"/>
                </a:rPr>
                <a:t>$123K</a:t>
              </a:r>
            </a:p>
          </p:txBody>
        </p:sp>
      </p:grpSp>
      <p:grpSp>
        <p:nvGrpSpPr>
          <p:cNvPr name="Group 27" id="27"/>
          <p:cNvGrpSpPr/>
          <p:nvPr/>
        </p:nvGrpSpPr>
        <p:grpSpPr>
          <a:xfrm rot="0">
            <a:off x="11634250" y="6358081"/>
            <a:ext cx="4520265" cy="2260421"/>
            <a:chOff x="0" y="0"/>
            <a:chExt cx="6027021" cy="3013894"/>
          </a:xfrm>
        </p:grpSpPr>
        <p:grpSp>
          <p:nvGrpSpPr>
            <p:cNvPr name="Group 28" id="28"/>
            <p:cNvGrpSpPr/>
            <p:nvPr/>
          </p:nvGrpSpPr>
          <p:grpSpPr>
            <a:xfrm rot="0">
              <a:off x="0" y="0"/>
              <a:ext cx="6027021" cy="3013894"/>
              <a:chOff x="0" y="0"/>
              <a:chExt cx="1521122" cy="760658"/>
            </a:xfrm>
          </p:grpSpPr>
          <p:sp>
            <p:nvSpPr>
              <p:cNvPr name="Freeform 29" id="29"/>
              <p:cNvSpPr/>
              <p:nvPr/>
            </p:nvSpPr>
            <p:spPr>
              <a:xfrm flipH="false" flipV="false" rot="0">
                <a:off x="0" y="0"/>
                <a:ext cx="1521122" cy="760658"/>
              </a:xfrm>
              <a:custGeom>
                <a:avLst/>
                <a:gdLst/>
                <a:ahLst/>
                <a:cxnLst/>
                <a:rect r="r" b="b" t="t" l="l"/>
                <a:pathLst>
                  <a:path h="760658" w="1521122">
                    <a:moveTo>
                      <a:pt x="49669" y="0"/>
                    </a:moveTo>
                    <a:lnTo>
                      <a:pt x="1471453" y="0"/>
                    </a:lnTo>
                    <a:cubicBezTo>
                      <a:pt x="1484626" y="0"/>
                      <a:pt x="1497260" y="5233"/>
                      <a:pt x="1506574" y="14548"/>
                    </a:cubicBezTo>
                    <a:cubicBezTo>
                      <a:pt x="1515889" y="23862"/>
                      <a:pt x="1521122" y="36496"/>
                      <a:pt x="1521122" y="49669"/>
                    </a:cubicBezTo>
                    <a:lnTo>
                      <a:pt x="1521122" y="710989"/>
                    </a:lnTo>
                    <a:cubicBezTo>
                      <a:pt x="1521122" y="724162"/>
                      <a:pt x="1515889" y="736796"/>
                      <a:pt x="1506574" y="746110"/>
                    </a:cubicBezTo>
                    <a:cubicBezTo>
                      <a:pt x="1497260" y="755425"/>
                      <a:pt x="1484626" y="760658"/>
                      <a:pt x="1471453" y="760658"/>
                    </a:cubicBezTo>
                    <a:lnTo>
                      <a:pt x="49669" y="760658"/>
                    </a:lnTo>
                    <a:cubicBezTo>
                      <a:pt x="36496" y="760658"/>
                      <a:pt x="23862" y="755425"/>
                      <a:pt x="14548" y="746110"/>
                    </a:cubicBezTo>
                    <a:cubicBezTo>
                      <a:pt x="5233" y="736796"/>
                      <a:pt x="0" y="724162"/>
                      <a:pt x="0" y="710989"/>
                    </a:cubicBezTo>
                    <a:lnTo>
                      <a:pt x="0" y="49669"/>
                    </a:lnTo>
                    <a:cubicBezTo>
                      <a:pt x="0" y="36496"/>
                      <a:pt x="5233" y="23862"/>
                      <a:pt x="14548" y="14548"/>
                    </a:cubicBezTo>
                    <a:cubicBezTo>
                      <a:pt x="23862" y="5233"/>
                      <a:pt x="36496" y="0"/>
                      <a:pt x="49669" y="0"/>
                    </a:cubicBezTo>
                    <a:close/>
                  </a:path>
                </a:pathLst>
              </a:custGeom>
              <a:solidFill>
                <a:srgbClr val="D0D7DD"/>
              </a:solidFill>
              <a:ln w="19050" cap="rnd">
                <a:solidFill>
                  <a:srgbClr val="424242"/>
                </a:solidFill>
                <a:prstDash val="solid"/>
                <a:round/>
              </a:ln>
            </p:spPr>
          </p:sp>
          <p:sp>
            <p:nvSpPr>
              <p:cNvPr name="TextBox 30" id="30"/>
              <p:cNvSpPr txBox="true"/>
              <p:nvPr/>
            </p:nvSpPr>
            <p:spPr>
              <a:xfrm>
                <a:off x="0" y="-28575"/>
                <a:ext cx="1521122" cy="789233"/>
              </a:xfrm>
              <a:prstGeom prst="rect">
                <a:avLst/>
              </a:prstGeom>
            </p:spPr>
            <p:txBody>
              <a:bodyPr anchor="ctr" rtlCol="false" tIns="50800" lIns="50800" bIns="50800" rIns="50800"/>
              <a:lstStyle/>
              <a:p>
                <a:pPr algn="ctr">
                  <a:lnSpc>
                    <a:spcPts val="2015"/>
                  </a:lnSpc>
                </a:pPr>
              </a:p>
            </p:txBody>
          </p:sp>
        </p:grpSp>
        <p:grpSp>
          <p:nvGrpSpPr>
            <p:cNvPr name="Group 31" id="31"/>
            <p:cNvGrpSpPr/>
            <p:nvPr/>
          </p:nvGrpSpPr>
          <p:grpSpPr>
            <a:xfrm rot="0">
              <a:off x="403856" y="213171"/>
              <a:ext cx="996968" cy="839386"/>
              <a:chOff x="0" y="0"/>
              <a:chExt cx="251618" cy="211847"/>
            </a:xfrm>
          </p:grpSpPr>
          <p:sp>
            <p:nvSpPr>
              <p:cNvPr name="Freeform 32" id="32"/>
              <p:cNvSpPr/>
              <p:nvPr/>
            </p:nvSpPr>
            <p:spPr>
              <a:xfrm flipH="false" flipV="false" rot="0">
                <a:off x="0" y="0"/>
                <a:ext cx="251618" cy="211847"/>
              </a:xfrm>
              <a:custGeom>
                <a:avLst/>
                <a:gdLst/>
                <a:ahLst/>
                <a:cxnLst/>
                <a:rect r="r" b="b" t="t" l="l"/>
                <a:pathLst>
                  <a:path h="211847" w="251618">
                    <a:moveTo>
                      <a:pt x="105924" y="0"/>
                    </a:moveTo>
                    <a:lnTo>
                      <a:pt x="145695" y="0"/>
                    </a:lnTo>
                    <a:cubicBezTo>
                      <a:pt x="173787" y="0"/>
                      <a:pt x="200730" y="11160"/>
                      <a:pt x="220594" y="31024"/>
                    </a:cubicBezTo>
                    <a:cubicBezTo>
                      <a:pt x="240459" y="50889"/>
                      <a:pt x="251618" y="77831"/>
                      <a:pt x="251618" y="105924"/>
                    </a:cubicBezTo>
                    <a:lnTo>
                      <a:pt x="251618" y="105924"/>
                    </a:lnTo>
                    <a:cubicBezTo>
                      <a:pt x="251618" y="164424"/>
                      <a:pt x="204195" y="211847"/>
                      <a:pt x="145695"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33" id="33"/>
              <p:cNvSpPr txBox="true"/>
              <p:nvPr/>
            </p:nvSpPr>
            <p:spPr>
              <a:xfrm>
                <a:off x="0" y="-28575"/>
                <a:ext cx="251618" cy="240422"/>
              </a:xfrm>
              <a:prstGeom prst="rect">
                <a:avLst/>
              </a:prstGeom>
            </p:spPr>
            <p:txBody>
              <a:bodyPr anchor="ctr" rtlCol="false" tIns="50800" lIns="50800" bIns="50800" rIns="50800"/>
              <a:lstStyle/>
              <a:p>
                <a:pPr algn="ctr">
                  <a:lnSpc>
                    <a:spcPts val="2015"/>
                  </a:lnSpc>
                </a:pPr>
              </a:p>
            </p:txBody>
          </p:sp>
        </p:grpSp>
        <p:sp>
          <p:nvSpPr>
            <p:cNvPr name="TextBox 34" id="34"/>
            <p:cNvSpPr txBox="true"/>
            <p:nvPr/>
          </p:nvSpPr>
          <p:spPr>
            <a:xfrm rot="0">
              <a:off x="535118" y="418846"/>
              <a:ext cx="707883" cy="504664"/>
            </a:xfrm>
            <a:prstGeom prst="rect">
              <a:avLst/>
            </a:prstGeom>
          </p:spPr>
          <p:txBody>
            <a:bodyPr anchor="t" rtlCol="false" tIns="0" lIns="0" bIns="0" rIns="0">
              <a:spAutoFit/>
            </a:bodyPr>
            <a:lstStyle/>
            <a:p>
              <a:pPr algn="ctr">
                <a:lnSpc>
                  <a:spcPts val="2648"/>
                </a:lnSpc>
              </a:pPr>
              <a:r>
                <a:rPr lang="en-US" b="true" sz="2817" spc="-132">
                  <a:solidFill>
                    <a:srgbClr val="424242"/>
                  </a:solidFill>
                  <a:latin typeface="Open Sauce Heavy"/>
                  <a:ea typeface="Open Sauce Heavy"/>
                  <a:cs typeface="Open Sauce Heavy"/>
                  <a:sym typeface="Open Sauce Heavy"/>
                </a:rPr>
                <a:t>06</a:t>
              </a:r>
            </a:p>
          </p:txBody>
        </p:sp>
        <p:sp>
          <p:nvSpPr>
            <p:cNvPr name="TextBox 35" id="35"/>
            <p:cNvSpPr txBox="true"/>
            <p:nvPr/>
          </p:nvSpPr>
          <p:spPr>
            <a:xfrm rot="0">
              <a:off x="1243001" y="1287953"/>
              <a:ext cx="4159361" cy="504664"/>
            </a:xfrm>
            <a:prstGeom prst="rect">
              <a:avLst/>
            </a:prstGeom>
          </p:spPr>
          <p:txBody>
            <a:bodyPr anchor="t" rtlCol="false" tIns="0" lIns="0" bIns="0" rIns="0">
              <a:spAutoFit/>
            </a:bodyPr>
            <a:lstStyle/>
            <a:p>
              <a:pPr algn="l">
                <a:lnSpc>
                  <a:spcPts val="2648"/>
                </a:lnSpc>
              </a:pPr>
              <a:r>
                <a:rPr lang="en-US" sz="2817" spc="-132" b="true">
                  <a:solidFill>
                    <a:srgbClr val="424242"/>
                  </a:solidFill>
                  <a:latin typeface="Open Sauce Heavy"/>
                  <a:ea typeface="Open Sauce Heavy"/>
                  <a:cs typeface="Open Sauce Heavy"/>
                  <a:sym typeface="Open Sauce Heavy"/>
                </a:rPr>
                <a:t>High</a:t>
              </a:r>
            </a:p>
          </p:txBody>
        </p:sp>
      </p:grpSp>
      <p:grpSp>
        <p:nvGrpSpPr>
          <p:cNvPr name="Group 36" id="36"/>
          <p:cNvGrpSpPr/>
          <p:nvPr/>
        </p:nvGrpSpPr>
        <p:grpSpPr>
          <a:xfrm rot="0">
            <a:off x="11638395" y="3443723"/>
            <a:ext cx="4520265" cy="2199983"/>
            <a:chOff x="0" y="0"/>
            <a:chExt cx="1622551" cy="789684"/>
          </a:xfrm>
        </p:grpSpPr>
        <p:sp>
          <p:nvSpPr>
            <p:cNvPr name="Freeform 37" id="37"/>
            <p:cNvSpPr/>
            <p:nvPr/>
          </p:nvSpPr>
          <p:spPr>
            <a:xfrm flipH="false" flipV="false" rot="0">
              <a:off x="0" y="0"/>
              <a:ext cx="1622551" cy="789684"/>
            </a:xfrm>
            <a:custGeom>
              <a:avLst/>
              <a:gdLst/>
              <a:ahLst/>
              <a:cxnLst/>
              <a:rect r="r" b="b" t="t" l="l"/>
              <a:pathLst>
                <a:path h="789684" w="1622551">
                  <a:moveTo>
                    <a:pt x="49669" y="0"/>
                  </a:moveTo>
                  <a:lnTo>
                    <a:pt x="1572882" y="0"/>
                  </a:lnTo>
                  <a:cubicBezTo>
                    <a:pt x="1600313" y="0"/>
                    <a:pt x="1622551" y="22237"/>
                    <a:pt x="1622551" y="49669"/>
                  </a:cubicBezTo>
                  <a:lnTo>
                    <a:pt x="1622551" y="740016"/>
                  </a:lnTo>
                  <a:cubicBezTo>
                    <a:pt x="1622551" y="753189"/>
                    <a:pt x="1617318" y="765822"/>
                    <a:pt x="1608003" y="775137"/>
                  </a:cubicBezTo>
                  <a:cubicBezTo>
                    <a:pt x="1598688" y="784452"/>
                    <a:pt x="1586055" y="789684"/>
                    <a:pt x="1572882" y="789684"/>
                  </a:cubicBezTo>
                  <a:lnTo>
                    <a:pt x="49669" y="789684"/>
                  </a:lnTo>
                  <a:cubicBezTo>
                    <a:pt x="36496" y="789684"/>
                    <a:pt x="23862" y="784452"/>
                    <a:pt x="14548" y="775137"/>
                  </a:cubicBezTo>
                  <a:cubicBezTo>
                    <a:pt x="5233" y="765822"/>
                    <a:pt x="0" y="753189"/>
                    <a:pt x="0" y="740016"/>
                  </a:cubicBezTo>
                  <a:lnTo>
                    <a:pt x="0" y="49669"/>
                  </a:lnTo>
                  <a:cubicBezTo>
                    <a:pt x="0" y="36496"/>
                    <a:pt x="5233" y="23862"/>
                    <a:pt x="14548" y="14548"/>
                  </a:cubicBezTo>
                  <a:cubicBezTo>
                    <a:pt x="23862" y="5233"/>
                    <a:pt x="36496" y="0"/>
                    <a:pt x="49669"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38" id="38"/>
            <p:cNvSpPr txBox="true"/>
            <p:nvPr/>
          </p:nvSpPr>
          <p:spPr>
            <a:xfrm>
              <a:off x="0" y="-28575"/>
              <a:ext cx="1622551" cy="818259"/>
            </a:xfrm>
            <a:prstGeom prst="rect">
              <a:avLst/>
            </a:prstGeom>
          </p:spPr>
          <p:txBody>
            <a:bodyPr anchor="ctr" rtlCol="false" tIns="50800" lIns="50800" bIns="50800" rIns="50800"/>
            <a:lstStyle/>
            <a:p>
              <a:pPr algn="ctr">
                <a:lnSpc>
                  <a:spcPts val="2015"/>
                </a:lnSpc>
              </a:pPr>
            </a:p>
          </p:txBody>
        </p:sp>
      </p:grpSp>
      <p:grpSp>
        <p:nvGrpSpPr>
          <p:cNvPr name="Group 39" id="39"/>
          <p:cNvGrpSpPr/>
          <p:nvPr/>
        </p:nvGrpSpPr>
        <p:grpSpPr>
          <a:xfrm rot="0">
            <a:off x="11901912" y="3611455"/>
            <a:ext cx="690618" cy="590185"/>
            <a:chOff x="0" y="0"/>
            <a:chExt cx="247898" cy="211847"/>
          </a:xfrm>
        </p:grpSpPr>
        <p:sp>
          <p:nvSpPr>
            <p:cNvPr name="Freeform 40" id="40"/>
            <p:cNvSpPr/>
            <p:nvPr/>
          </p:nvSpPr>
          <p:spPr>
            <a:xfrm flipH="false" flipV="false" rot="0">
              <a:off x="0" y="0"/>
              <a:ext cx="247898" cy="211847"/>
            </a:xfrm>
            <a:custGeom>
              <a:avLst/>
              <a:gdLst/>
              <a:ahLst/>
              <a:cxnLst/>
              <a:rect r="r" b="b" t="t" l="l"/>
              <a:pathLst>
                <a:path h="211847" w="247898">
                  <a:moveTo>
                    <a:pt x="105924" y="0"/>
                  </a:moveTo>
                  <a:lnTo>
                    <a:pt x="141974" y="0"/>
                  </a:lnTo>
                  <a:cubicBezTo>
                    <a:pt x="170067" y="0"/>
                    <a:pt x="197009" y="11160"/>
                    <a:pt x="216873" y="31024"/>
                  </a:cubicBezTo>
                  <a:cubicBezTo>
                    <a:pt x="236738" y="50889"/>
                    <a:pt x="247898" y="77831"/>
                    <a:pt x="247898" y="105924"/>
                  </a:cubicBezTo>
                  <a:lnTo>
                    <a:pt x="247898" y="105924"/>
                  </a:lnTo>
                  <a:cubicBezTo>
                    <a:pt x="247898" y="134016"/>
                    <a:pt x="236738" y="160958"/>
                    <a:pt x="216873" y="180823"/>
                  </a:cubicBezTo>
                  <a:cubicBezTo>
                    <a:pt x="197009" y="200687"/>
                    <a:pt x="170067" y="211847"/>
                    <a:pt x="141974"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41" id="41"/>
            <p:cNvSpPr txBox="true"/>
            <p:nvPr/>
          </p:nvSpPr>
          <p:spPr>
            <a:xfrm>
              <a:off x="0" y="-28575"/>
              <a:ext cx="247898" cy="240422"/>
            </a:xfrm>
            <a:prstGeom prst="rect">
              <a:avLst/>
            </a:prstGeom>
          </p:spPr>
          <p:txBody>
            <a:bodyPr anchor="ctr" rtlCol="false" tIns="50800" lIns="50800" bIns="50800" rIns="50800"/>
            <a:lstStyle/>
            <a:p>
              <a:pPr algn="ctr">
                <a:lnSpc>
                  <a:spcPts val="2015"/>
                </a:lnSpc>
              </a:pPr>
            </a:p>
          </p:txBody>
        </p:sp>
      </p:grpSp>
      <p:sp>
        <p:nvSpPr>
          <p:cNvPr name="TextBox 42" id="42"/>
          <p:cNvSpPr txBox="true"/>
          <p:nvPr/>
        </p:nvSpPr>
        <p:spPr>
          <a:xfrm rot="0">
            <a:off x="11992840" y="3785388"/>
            <a:ext cx="490364" cy="325518"/>
          </a:xfrm>
          <a:prstGeom prst="rect">
            <a:avLst/>
          </a:prstGeom>
        </p:spPr>
        <p:txBody>
          <a:bodyPr anchor="t" rtlCol="false" tIns="0" lIns="0" bIns="0" rIns="0">
            <a:spAutoFit/>
          </a:bodyPr>
          <a:lstStyle/>
          <a:p>
            <a:pPr algn="ctr">
              <a:lnSpc>
                <a:spcPts val="2482"/>
              </a:lnSpc>
            </a:pPr>
            <a:r>
              <a:rPr lang="en-US" b="true" sz="2641" spc="-124">
                <a:solidFill>
                  <a:srgbClr val="424242"/>
                </a:solidFill>
                <a:latin typeface="Open Sauce Heavy"/>
                <a:ea typeface="Open Sauce Heavy"/>
                <a:cs typeface="Open Sauce Heavy"/>
                <a:sym typeface="Open Sauce Heavy"/>
              </a:rPr>
              <a:t>03</a:t>
            </a:r>
          </a:p>
        </p:txBody>
      </p:sp>
      <p:sp>
        <p:nvSpPr>
          <p:cNvPr name="TextBox 43" id="43"/>
          <p:cNvSpPr txBox="true"/>
          <p:nvPr/>
        </p:nvSpPr>
        <p:spPr>
          <a:xfrm rot="0">
            <a:off x="12526682" y="4289231"/>
            <a:ext cx="2881268" cy="347698"/>
          </a:xfrm>
          <a:prstGeom prst="rect">
            <a:avLst/>
          </a:prstGeom>
        </p:spPr>
        <p:txBody>
          <a:bodyPr anchor="t" rtlCol="false" tIns="0" lIns="0" bIns="0" rIns="0">
            <a:spAutoFit/>
          </a:bodyPr>
          <a:lstStyle/>
          <a:p>
            <a:pPr algn="l">
              <a:lnSpc>
                <a:spcPts val="2576"/>
              </a:lnSpc>
            </a:pPr>
            <a:r>
              <a:rPr lang="en-US" sz="2741" spc="-128" b="true">
                <a:solidFill>
                  <a:srgbClr val="424242"/>
                </a:solidFill>
                <a:latin typeface="Open Sauce Heavy"/>
                <a:ea typeface="Open Sauce Heavy"/>
                <a:cs typeface="Open Sauce Heavy"/>
                <a:sym typeface="Open Sauce Heavy"/>
              </a:rPr>
              <a:t>Rust </a:t>
            </a:r>
          </a:p>
        </p:txBody>
      </p:sp>
      <p:sp>
        <p:nvSpPr>
          <p:cNvPr name="TextBox 44" id="44"/>
          <p:cNvSpPr txBox="true"/>
          <p:nvPr/>
        </p:nvSpPr>
        <p:spPr>
          <a:xfrm rot="0">
            <a:off x="1856017" y="3648623"/>
            <a:ext cx="664366" cy="368613"/>
          </a:xfrm>
          <a:prstGeom prst="rect">
            <a:avLst/>
          </a:prstGeom>
        </p:spPr>
        <p:txBody>
          <a:bodyPr anchor="t" rtlCol="false" tIns="0" lIns="0" bIns="0" rIns="0">
            <a:spAutoFit/>
          </a:bodyPr>
          <a:lstStyle/>
          <a:p>
            <a:pPr algn="ctr">
              <a:lnSpc>
                <a:spcPts val="2690"/>
              </a:lnSpc>
            </a:pPr>
            <a:r>
              <a:rPr lang="en-US" b="true" sz="2862" spc="-134">
                <a:solidFill>
                  <a:srgbClr val="424242"/>
                </a:solidFill>
                <a:latin typeface="Open Sauce Heavy"/>
                <a:ea typeface="Open Sauce Heavy"/>
                <a:cs typeface="Open Sauce Heavy"/>
                <a:sym typeface="Open Sauce Heavy"/>
              </a:rPr>
              <a:t>01</a:t>
            </a:r>
          </a:p>
        </p:txBody>
      </p:sp>
      <p:grpSp>
        <p:nvGrpSpPr>
          <p:cNvPr name="Group 45" id="45"/>
          <p:cNvGrpSpPr/>
          <p:nvPr/>
        </p:nvGrpSpPr>
        <p:grpSpPr>
          <a:xfrm rot="0">
            <a:off x="6647260" y="6358081"/>
            <a:ext cx="4520265" cy="2260421"/>
            <a:chOff x="0" y="0"/>
            <a:chExt cx="6027021" cy="3013894"/>
          </a:xfrm>
        </p:grpSpPr>
        <p:grpSp>
          <p:nvGrpSpPr>
            <p:cNvPr name="Group 46" id="46"/>
            <p:cNvGrpSpPr/>
            <p:nvPr/>
          </p:nvGrpSpPr>
          <p:grpSpPr>
            <a:xfrm rot="0">
              <a:off x="0" y="0"/>
              <a:ext cx="6027021" cy="3013894"/>
              <a:chOff x="0" y="0"/>
              <a:chExt cx="1497417" cy="748804"/>
            </a:xfrm>
          </p:grpSpPr>
          <p:sp>
            <p:nvSpPr>
              <p:cNvPr name="Freeform 47" id="47"/>
              <p:cNvSpPr/>
              <p:nvPr/>
            </p:nvSpPr>
            <p:spPr>
              <a:xfrm flipH="false" flipV="false" rot="0">
                <a:off x="0" y="0"/>
                <a:ext cx="1497417" cy="748804"/>
              </a:xfrm>
              <a:custGeom>
                <a:avLst/>
                <a:gdLst/>
                <a:ahLst/>
                <a:cxnLst/>
                <a:rect r="r" b="b" t="t" l="l"/>
                <a:pathLst>
                  <a:path h="748804" w="1497417">
                    <a:moveTo>
                      <a:pt x="49669" y="0"/>
                    </a:moveTo>
                    <a:lnTo>
                      <a:pt x="1447748" y="0"/>
                    </a:lnTo>
                    <a:cubicBezTo>
                      <a:pt x="1460921" y="0"/>
                      <a:pt x="1473555" y="5233"/>
                      <a:pt x="1482869" y="14548"/>
                    </a:cubicBezTo>
                    <a:cubicBezTo>
                      <a:pt x="1492184" y="23862"/>
                      <a:pt x="1497417" y="36496"/>
                      <a:pt x="1497417" y="49669"/>
                    </a:cubicBezTo>
                    <a:lnTo>
                      <a:pt x="1497417" y="699135"/>
                    </a:lnTo>
                    <a:cubicBezTo>
                      <a:pt x="1497417" y="712308"/>
                      <a:pt x="1492184" y="724942"/>
                      <a:pt x="1482869" y="734256"/>
                    </a:cubicBezTo>
                    <a:cubicBezTo>
                      <a:pt x="1473555" y="743571"/>
                      <a:pt x="1460921" y="748804"/>
                      <a:pt x="1447748" y="748804"/>
                    </a:cubicBezTo>
                    <a:lnTo>
                      <a:pt x="49669" y="748804"/>
                    </a:lnTo>
                    <a:cubicBezTo>
                      <a:pt x="36496" y="748804"/>
                      <a:pt x="23862" y="743571"/>
                      <a:pt x="14548" y="734256"/>
                    </a:cubicBezTo>
                    <a:cubicBezTo>
                      <a:pt x="5233" y="724942"/>
                      <a:pt x="0" y="712308"/>
                      <a:pt x="0" y="699135"/>
                    </a:cubicBezTo>
                    <a:lnTo>
                      <a:pt x="0" y="49669"/>
                    </a:lnTo>
                    <a:cubicBezTo>
                      <a:pt x="0" y="36496"/>
                      <a:pt x="5233" y="23862"/>
                      <a:pt x="14548" y="14548"/>
                    </a:cubicBezTo>
                    <a:cubicBezTo>
                      <a:pt x="23862" y="5233"/>
                      <a:pt x="36496" y="0"/>
                      <a:pt x="49669" y="0"/>
                    </a:cubicBezTo>
                    <a:close/>
                  </a:path>
                </a:pathLst>
              </a:custGeom>
              <a:gradFill rotWithShape="true">
                <a:gsLst>
                  <a:gs pos="0">
                    <a:srgbClr val="A0CEFD">
                      <a:alpha val="100000"/>
                    </a:srgbClr>
                  </a:gs>
                  <a:gs pos="100000">
                    <a:srgbClr val="E4F2FF">
                      <a:alpha val="100000"/>
                    </a:srgbClr>
                  </a:gs>
                </a:gsLst>
                <a:lin ang="0"/>
              </a:gradFill>
              <a:ln w="19050" cap="rnd">
                <a:solidFill>
                  <a:srgbClr val="424242"/>
                </a:solidFill>
                <a:prstDash val="solid"/>
                <a:round/>
              </a:ln>
            </p:spPr>
          </p:sp>
          <p:sp>
            <p:nvSpPr>
              <p:cNvPr name="TextBox 48" id="48"/>
              <p:cNvSpPr txBox="true"/>
              <p:nvPr/>
            </p:nvSpPr>
            <p:spPr>
              <a:xfrm>
                <a:off x="0" y="-28575"/>
                <a:ext cx="1497417" cy="777379"/>
              </a:xfrm>
              <a:prstGeom prst="rect">
                <a:avLst/>
              </a:prstGeom>
            </p:spPr>
            <p:txBody>
              <a:bodyPr anchor="ctr" rtlCol="false" tIns="50800" lIns="50800" bIns="50800" rIns="50800"/>
              <a:lstStyle/>
              <a:p>
                <a:pPr algn="ctr">
                  <a:lnSpc>
                    <a:spcPts val="2015"/>
                  </a:lnSpc>
                </a:pPr>
              </a:p>
            </p:txBody>
          </p:sp>
        </p:grpSp>
        <p:grpSp>
          <p:nvGrpSpPr>
            <p:cNvPr name="Group 49" id="49"/>
            <p:cNvGrpSpPr/>
            <p:nvPr/>
          </p:nvGrpSpPr>
          <p:grpSpPr>
            <a:xfrm rot="0">
              <a:off x="297371" y="123683"/>
              <a:ext cx="1247573" cy="852674"/>
              <a:chOff x="0" y="0"/>
              <a:chExt cx="309960" cy="211847"/>
            </a:xfrm>
          </p:grpSpPr>
          <p:sp>
            <p:nvSpPr>
              <p:cNvPr name="Freeform 50" id="50"/>
              <p:cNvSpPr/>
              <p:nvPr/>
            </p:nvSpPr>
            <p:spPr>
              <a:xfrm flipH="false" flipV="false" rot="0">
                <a:off x="0" y="0"/>
                <a:ext cx="309960" cy="211847"/>
              </a:xfrm>
              <a:custGeom>
                <a:avLst/>
                <a:gdLst/>
                <a:ahLst/>
                <a:cxnLst/>
                <a:rect r="r" b="b" t="t" l="l"/>
                <a:pathLst>
                  <a:path h="211847" w="309960">
                    <a:moveTo>
                      <a:pt x="105924" y="0"/>
                    </a:moveTo>
                    <a:lnTo>
                      <a:pt x="204037" y="0"/>
                    </a:lnTo>
                    <a:cubicBezTo>
                      <a:pt x="232129" y="0"/>
                      <a:pt x="259071" y="11160"/>
                      <a:pt x="278936" y="31024"/>
                    </a:cubicBezTo>
                    <a:cubicBezTo>
                      <a:pt x="298800" y="50889"/>
                      <a:pt x="309960" y="77831"/>
                      <a:pt x="309960" y="105924"/>
                    </a:cubicBezTo>
                    <a:lnTo>
                      <a:pt x="309960" y="105924"/>
                    </a:lnTo>
                    <a:cubicBezTo>
                      <a:pt x="309960" y="164424"/>
                      <a:pt x="262537" y="211847"/>
                      <a:pt x="204037" y="211847"/>
                    </a:cubicBezTo>
                    <a:lnTo>
                      <a:pt x="105924" y="211847"/>
                    </a:lnTo>
                    <a:cubicBezTo>
                      <a:pt x="77831" y="211847"/>
                      <a:pt x="50889" y="200687"/>
                      <a:pt x="31024" y="180823"/>
                    </a:cubicBezTo>
                    <a:cubicBezTo>
                      <a:pt x="11160" y="160958"/>
                      <a:pt x="0" y="134016"/>
                      <a:pt x="0" y="105924"/>
                    </a:cubicBezTo>
                    <a:lnTo>
                      <a:pt x="0" y="105924"/>
                    </a:lnTo>
                    <a:cubicBezTo>
                      <a:pt x="0" y="77831"/>
                      <a:pt x="11160" y="50889"/>
                      <a:pt x="31024" y="31024"/>
                    </a:cubicBezTo>
                    <a:cubicBezTo>
                      <a:pt x="50889" y="11160"/>
                      <a:pt x="77831" y="0"/>
                      <a:pt x="105924" y="0"/>
                    </a:cubicBezTo>
                    <a:close/>
                  </a:path>
                </a:pathLst>
              </a:custGeom>
              <a:solidFill>
                <a:srgbClr val="FFFFFF"/>
              </a:solidFill>
              <a:ln w="19050" cap="rnd">
                <a:solidFill>
                  <a:srgbClr val="424242"/>
                </a:solidFill>
                <a:prstDash val="solid"/>
                <a:round/>
              </a:ln>
            </p:spPr>
          </p:sp>
          <p:sp>
            <p:nvSpPr>
              <p:cNvPr name="TextBox 51" id="51"/>
              <p:cNvSpPr txBox="true"/>
              <p:nvPr/>
            </p:nvSpPr>
            <p:spPr>
              <a:xfrm>
                <a:off x="0" y="-28575"/>
                <a:ext cx="309960" cy="240422"/>
              </a:xfrm>
              <a:prstGeom prst="rect">
                <a:avLst/>
              </a:prstGeom>
            </p:spPr>
            <p:txBody>
              <a:bodyPr anchor="ctr" rtlCol="false" tIns="50800" lIns="50800" bIns="50800" rIns="50800"/>
              <a:lstStyle/>
              <a:p>
                <a:pPr algn="ctr">
                  <a:lnSpc>
                    <a:spcPts val="2015"/>
                  </a:lnSpc>
                </a:pPr>
              </a:p>
            </p:txBody>
          </p:sp>
        </p:grpSp>
        <p:sp>
          <p:nvSpPr>
            <p:cNvPr name="TextBox 52" id="52"/>
            <p:cNvSpPr txBox="true"/>
            <p:nvPr/>
          </p:nvSpPr>
          <p:spPr>
            <a:xfrm rot="0">
              <a:off x="461628" y="331558"/>
              <a:ext cx="885821" cy="513709"/>
            </a:xfrm>
            <a:prstGeom prst="rect">
              <a:avLst/>
            </a:prstGeom>
          </p:spPr>
          <p:txBody>
            <a:bodyPr anchor="t" rtlCol="false" tIns="0" lIns="0" bIns="0" rIns="0">
              <a:spAutoFit/>
            </a:bodyPr>
            <a:lstStyle/>
            <a:p>
              <a:pPr algn="ctr">
                <a:lnSpc>
                  <a:spcPts val="2690"/>
                </a:lnSpc>
              </a:pPr>
              <a:r>
                <a:rPr lang="en-US" b="true" sz="2862" spc="-134">
                  <a:solidFill>
                    <a:srgbClr val="424242"/>
                  </a:solidFill>
                  <a:latin typeface="Open Sauce Heavy"/>
                  <a:ea typeface="Open Sauce Heavy"/>
                  <a:cs typeface="Open Sauce Heavy"/>
                  <a:sym typeface="Open Sauce Heavy"/>
                </a:rPr>
                <a:t>05</a:t>
              </a:r>
            </a:p>
          </p:txBody>
        </p:sp>
        <p:sp>
          <p:nvSpPr>
            <p:cNvPr name="TextBox 53" id="53"/>
            <p:cNvSpPr txBox="true"/>
            <p:nvPr/>
          </p:nvSpPr>
          <p:spPr>
            <a:xfrm rot="0">
              <a:off x="1050152" y="1283430"/>
              <a:ext cx="2608220" cy="513709"/>
            </a:xfrm>
            <a:prstGeom prst="rect">
              <a:avLst/>
            </a:prstGeom>
          </p:spPr>
          <p:txBody>
            <a:bodyPr anchor="t" rtlCol="false" tIns="0" lIns="0" bIns="0" rIns="0">
              <a:spAutoFit/>
            </a:bodyPr>
            <a:lstStyle/>
            <a:p>
              <a:pPr algn="l">
                <a:lnSpc>
                  <a:spcPts val="2690"/>
                </a:lnSpc>
              </a:pPr>
              <a:r>
                <a:rPr lang="en-US" sz="2862" spc="-134" b="true">
                  <a:solidFill>
                    <a:srgbClr val="424242"/>
                  </a:solidFill>
                  <a:latin typeface="Open Sauce Heavy"/>
                  <a:ea typeface="Open Sauce Heavy"/>
                  <a:cs typeface="Open Sauce Heavy"/>
                  <a:sym typeface="Open Sauce Heavy"/>
                </a:rPr>
                <a:t>22.69</a:t>
              </a:r>
            </a:p>
          </p:txBody>
        </p:sp>
      </p:grpSp>
      <p:grpSp>
        <p:nvGrpSpPr>
          <p:cNvPr name="Group 54" id="54"/>
          <p:cNvGrpSpPr/>
          <p:nvPr/>
        </p:nvGrpSpPr>
        <p:grpSpPr>
          <a:xfrm rot="0">
            <a:off x="2600362" y="4190851"/>
            <a:ext cx="2339132" cy="892155"/>
            <a:chOff x="0" y="0"/>
            <a:chExt cx="3118842" cy="1189541"/>
          </a:xfrm>
        </p:grpSpPr>
        <p:sp>
          <p:nvSpPr>
            <p:cNvPr name="TextBox 55" id="55"/>
            <p:cNvSpPr txBox="true"/>
            <p:nvPr/>
          </p:nvSpPr>
          <p:spPr>
            <a:xfrm rot="0">
              <a:off x="0" y="76200"/>
              <a:ext cx="2608220" cy="558320"/>
            </a:xfrm>
            <a:prstGeom prst="rect">
              <a:avLst/>
            </a:prstGeom>
          </p:spPr>
          <p:txBody>
            <a:bodyPr anchor="t" rtlCol="false" tIns="0" lIns="0" bIns="0" rIns="0">
              <a:spAutoFit/>
            </a:bodyPr>
            <a:lstStyle/>
            <a:p>
              <a:pPr algn="just">
                <a:lnSpc>
                  <a:spcPts val="2972"/>
                </a:lnSpc>
              </a:pPr>
              <a:r>
                <a:rPr lang="en-US" b="true" sz="3162" spc="-148">
                  <a:solidFill>
                    <a:srgbClr val="424242"/>
                  </a:solidFill>
                  <a:latin typeface="Open Sauce Heavy"/>
                  <a:ea typeface="Open Sauce Heavy"/>
                  <a:cs typeface="Open Sauce Heavy"/>
                  <a:sym typeface="Open Sauce Heavy"/>
                </a:rPr>
                <a:t>29</a:t>
              </a:r>
            </a:p>
          </p:txBody>
        </p:sp>
        <p:sp>
          <p:nvSpPr>
            <p:cNvPr name="TextBox 56" id="56"/>
            <p:cNvSpPr txBox="true"/>
            <p:nvPr/>
          </p:nvSpPr>
          <p:spPr>
            <a:xfrm rot="0">
              <a:off x="0" y="740623"/>
              <a:ext cx="3118842" cy="448918"/>
            </a:xfrm>
            <a:prstGeom prst="rect">
              <a:avLst/>
            </a:prstGeom>
          </p:spPr>
          <p:txBody>
            <a:bodyPr anchor="t" rtlCol="false" tIns="0" lIns="0" bIns="0" rIns="0">
              <a:spAutoFit/>
            </a:bodyPr>
            <a:lstStyle/>
            <a:p>
              <a:pPr algn="just">
                <a:lnSpc>
                  <a:spcPts val="2836"/>
                </a:lnSpc>
              </a:pPr>
              <a:r>
                <a:rPr lang="en-US" sz="2025">
                  <a:solidFill>
                    <a:srgbClr val="424242"/>
                  </a:solidFill>
                  <a:latin typeface="Canva Sans"/>
                  <a:ea typeface="Canva Sans"/>
                  <a:cs typeface="Canva Sans"/>
                  <a:sym typeface="Canva Sans"/>
                </a:rPr>
                <a:t>Language analyzed</a:t>
              </a:r>
            </a:p>
          </p:txBody>
        </p:sp>
      </p:grpSp>
      <p:sp>
        <p:nvSpPr>
          <p:cNvPr name="TextBox 57" id="57"/>
          <p:cNvSpPr txBox="true"/>
          <p:nvPr/>
        </p:nvSpPr>
        <p:spPr>
          <a:xfrm rot="0">
            <a:off x="7429525" y="4764252"/>
            <a:ext cx="3163937" cy="280669"/>
          </a:xfrm>
          <a:prstGeom prst="rect">
            <a:avLst/>
          </a:prstGeom>
        </p:spPr>
        <p:txBody>
          <a:bodyPr anchor="t" rtlCol="false" tIns="0" lIns="0" bIns="0" rIns="0">
            <a:spAutoFit/>
          </a:bodyPr>
          <a:lstStyle/>
          <a:p>
            <a:pPr algn="ctr">
              <a:lnSpc>
                <a:spcPts val="2380"/>
              </a:lnSpc>
            </a:pPr>
            <a:r>
              <a:rPr lang="en-US" sz="1700">
                <a:solidFill>
                  <a:srgbClr val="424242"/>
                </a:solidFill>
                <a:latin typeface="Canva Sans"/>
                <a:ea typeface="Canva Sans"/>
                <a:cs typeface="Canva Sans"/>
                <a:sym typeface="Canva Sans"/>
              </a:rPr>
              <a:t>Highest demand  (score 51.13) </a:t>
            </a:r>
          </a:p>
        </p:txBody>
      </p:sp>
      <p:sp>
        <p:nvSpPr>
          <p:cNvPr name="TextBox 58" id="58"/>
          <p:cNvSpPr txBox="true"/>
          <p:nvPr/>
        </p:nvSpPr>
        <p:spPr>
          <a:xfrm rot="0">
            <a:off x="12526682" y="4787747"/>
            <a:ext cx="2535882" cy="280669"/>
          </a:xfrm>
          <a:prstGeom prst="rect">
            <a:avLst/>
          </a:prstGeom>
        </p:spPr>
        <p:txBody>
          <a:bodyPr anchor="t" rtlCol="false" tIns="0" lIns="0" bIns="0" rIns="0">
            <a:spAutoFit/>
          </a:bodyPr>
          <a:lstStyle/>
          <a:p>
            <a:pPr algn="ctr">
              <a:lnSpc>
                <a:spcPts val="2380"/>
              </a:lnSpc>
            </a:pPr>
            <a:r>
              <a:rPr lang="en-US" sz="1700">
                <a:solidFill>
                  <a:srgbClr val="424242"/>
                </a:solidFill>
                <a:latin typeface="Canva Sans"/>
                <a:ea typeface="Canva Sans"/>
                <a:cs typeface="Canva Sans"/>
                <a:sym typeface="Canva Sans"/>
              </a:rPr>
              <a:t>Highest paying (~$158K) </a:t>
            </a:r>
          </a:p>
        </p:txBody>
      </p:sp>
      <p:sp>
        <p:nvSpPr>
          <p:cNvPr name="TextBox 59" id="59"/>
          <p:cNvSpPr txBox="true"/>
          <p:nvPr/>
        </p:nvSpPr>
        <p:spPr>
          <a:xfrm rot="0">
            <a:off x="2600362" y="7800646"/>
            <a:ext cx="2941737" cy="280669"/>
          </a:xfrm>
          <a:prstGeom prst="rect">
            <a:avLst/>
          </a:prstGeom>
        </p:spPr>
        <p:txBody>
          <a:bodyPr anchor="t" rtlCol="false" tIns="0" lIns="0" bIns="0" rIns="0">
            <a:spAutoFit/>
          </a:bodyPr>
          <a:lstStyle/>
          <a:p>
            <a:pPr algn="ctr">
              <a:lnSpc>
                <a:spcPts val="2380"/>
              </a:lnSpc>
            </a:pPr>
            <a:r>
              <a:rPr lang="en-US" sz="1700">
                <a:solidFill>
                  <a:srgbClr val="424242"/>
                </a:solidFill>
                <a:latin typeface="Canva Sans"/>
                <a:ea typeface="Canva Sans"/>
                <a:cs typeface="Canva Sans"/>
                <a:sym typeface="Canva Sans"/>
              </a:rPr>
              <a:t>Average salary, all languages</a:t>
            </a:r>
          </a:p>
        </p:txBody>
      </p:sp>
      <p:sp>
        <p:nvSpPr>
          <p:cNvPr name="TextBox 60" id="60"/>
          <p:cNvSpPr txBox="true"/>
          <p:nvPr/>
        </p:nvSpPr>
        <p:spPr>
          <a:xfrm rot="0">
            <a:off x="7496821" y="7840652"/>
            <a:ext cx="2365474" cy="280669"/>
          </a:xfrm>
          <a:prstGeom prst="rect">
            <a:avLst/>
          </a:prstGeom>
        </p:spPr>
        <p:txBody>
          <a:bodyPr anchor="t" rtlCol="false" tIns="0" lIns="0" bIns="0" rIns="0">
            <a:spAutoFit/>
          </a:bodyPr>
          <a:lstStyle/>
          <a:p>
            <a:pPr algn="ctr">
              <a:lnSpc>
                <a:spcPts val="2380"/>
              </a:lnSpc>
            </a:pPr>
            <a:r>
              <a:rPr lang="en-US" sz="1700">
                <a:solidFill>
                  <a:srgbClr val="424242"/>
                </a:solidFill>
                <a:latin typeface="Canva Sans"/>
                <a:ea typeface="Canva Sans"/>
                <a:cs typeface="Canva Sans"/>
                <a:sym typeface="Canva Sans"/>
              </a:rPr>
              <a:t>Average demand score</a:t>
            </a:r>
          </a:p>
        </p:txBody>
      </p:sp>
      <p:sp>
        <p:nvSpPr>
          <p:cNvPr name="TextBox 61" id="61"/>
          <p:cNvSpPr txBox="true"/>
          <p:nvPr/>
        </p:nvSpPr>
        <p:spPr>
          <a:xfrm rot="0">
            <a:off x="12592530" y="7817157"/>
            <a:ext cx="3282107" cy="264159"/>
          </a:xfrm>
          <a:prstGeom prst="rect">
            <a:avLst/>
          </a:prstGeom>
        </p:spPr>
        <p:txBody>
          <a:bodyPr anchor="t" rtlCol="false" tIns="0" lIns="0" bIns="0" rIns="0">
            <a:spAutoFit/>
          </a:bodyPr>
          <a:lstStyle/>
          <a:p>
            <a:pPr algn="ctr">
              <a:lnSpc>
                <a:spcPts val="2240"/>
              </a:lnSpc>
            </a:pPr>
            <a:r>
              <a:rPr lang="en-US" sz="1600">
                <a:solidFill>
                  <a:srgbClr val="424242"/>
                </a:solidFill>
                <a:latin typeface="Canva Sans"/>
                <a:ea typeface="Canva Sans"/>
                <a:cs typeface="Canva Sans"/>
                <a:sym typeface="Canva Sans"/>
              </a:rPr>
              <a:t>Python = only "High Opportunity"</a:t>
            </a:r>
          </a:p>
        </p:txBody>
      </p:sp>
      <p:sp>
        <p:nvSpPr>
          <p:cNvPr name="TextBox 62" id="62"/>
          <p:cNvSpPr txBox="true"/>
          <p:nvPr/>
        </p:nvSpPr>
        <p:spPr>
          <a:xfrm rot="0">
            <a:off x="1732824" y="8997951"/>
            <a:ext cx="7643366" cy="989964"/>
          </a:xfrm>
          <a:prstGeom prst="rect">
            <a:avLst/>
          </a:prstGeom>
        </p:spPr>
        <p:txBody>
          <a:bodyPr anchor="t" rtlCol="false" tIns="0" lIns="0" bIns="0" rIns="0">
            <a:spAutoFit/>
          </a:bodyPr>
          <a:lstStyle/>
          <a:p>
            <a:pPr algn="l" marL="410218" indent="-205109" lvl="1">
              <a:lnSpc>
                <a:spcPts val="2660"/>
              </a:lnSpc>
              <a:buFont typeface="Arial"/>
              <a:buChar char="•"/>
            </a:pPr>
            <a:r>
              <a:rPr lang="en-US" sz="1900">
                <a:solidFill>
                  <a:srgbClr val="424242"/>
                </a:solidFill>
                <a:latin typeface="Canva Sans"/>
                <a:ea typeface="Canva Sans"/>
                <a:cs typeface="Canva Sans"/>
                <a:sym typeface="Canva Sans"/>
              </a:rPr>
              <a:t>Demand score ranges from </a:t>
            </a:r>
            <a:r>
              <a:rPr lang="en-US" b="true" sz="1900">
                <a:solidFill>
                  <a:srgbClr val="424242"/>
                </a:solidFill>
                <a:latin typeface="Canva Sans Bold"/>
                <a:ea typeface="Canva Sans Bold"/>
                <a:cs typeface="Canva Sans Bold"/>
                <a:sym typeface="Canva Sans Bold"/>
              </a:rPr>
              <a:t>51.13 (Python)</a:t>
            </a:r>
            <a:r>
              <a:rPr lang="en-US" sz="1900">
                <a:solidFill>
                  <a:srgbClr val="424242"/>
                </a:solidFill>
                <a:latin typeface="Canva Sans"/>
                <a:ea typeface="Canva Sans"/>
                <a:cs typeface="Canva Sans"/>
                <a:sym typeface="Canva Sans"/>
              </a:rPr>
              <a:t> down to </a:t>
            </a:r>
            <a:r>
              <a:rPr lang="en-US" b="true" sz="1900">
                <a:solidFill>
                  <a:srgbClr val="424242"/>
                </a:solidFill>
                <a:latin typeface="Canva Sans Bold"/>
                <a:ea typeface="Canva Sans Bold"/>
                <a:cs typeface="Canva Sans Bold"/>
                <a:sym typeface="Canva Sans Bold"/>
              </a:rPr>
              <a:t>12.89 (Lua)</a:t>
            </a:r>
          </a:p>
          <a:p>
            <a:pPr algn="l" marL="410218" indent="-205109" lvl="1">
              <a:lnSpc>
                <a:spcPts val="2660"/>
              </a:lnSpc>
              <a:buFont typeface="Arial"/>
              <a:buChar char="•"/>
            </a:pPr>
            <a:r>
              <a:rPr lang="en-US" sz="1900">
                <a:solidFill>
                  <a:srgbClr val="424242"/>
                </a:solidFill>
                <a:latin typeface="Canva Sans"/>
                <a:ea typeface="Canva Sans"/>
                <a:cs typeface="Canva Sans"/>
                <a:sym typeface="Canva Sans"/>
              </a:rPr>
              <a:t>Average salary by language ranges from </a:t>
            </a:r>
            <a:r>
              <a:rPr lang="en-US" b="true" sz="1900">
                <a:solidFill>
                  <a:srgbClr val="424242"/>
                </a:solidFill>
                <a:latin typeface="Canva Sans Bold"/>
                <a:ea typeface="Canva Sans Bold"/>
                <a:cs typeface="Canva Sans Bold"/>
                <a:sym typeface="Canva Sans Bold"/>
              </a:rPr>
              <a:t>~$96K</a:t>
            </a:r>
            <a:r>
              <a:rPr lang="en-US" sz="1900">
                <a:solidFill>
                  <a:srgbClr val="424242"/>
                </a:solidFill>
                <a:latin typeface="Canva Sans"/>
                <a:ea typeface="Canva Sans"/>
                <a:cs typeface="Canva Sans"/>
                <a:sym typeface="Canva Sans"/>
              </a:rPr>
              <a:t> to </a:t>
            </a:r>
            <a:r>
              <a:rPr lang="en-US" b="true" sz="1900">
                <a:solidFill>
                  <a:srgbClr val="424242"/>
                </a:solidFill>
                <a:latin typeface="Canva Sans Bold"/>
                <a:ea typeface="Canva Sans Bold"/>
                <a:cs typeface="Canva Sans Bold"/>
                <a:sym typeface="Canva Sans Bold"/>
              </a:rPr>
              <a:t>~$158K </a:t>
            </a:r>
          </a:p>
          <a:p>
            <a:pPr algn="l">
              <a:lnSpc>
                <a:spcPts val="2660"/>
              </a:lnSpc>
            </a:pPr>
          </a:p>
        </p:txBody>
      </p:sp>
      <p:sp>
        <p:nvSpPr>
          <p:cNvPr name="TextBox 63" id="63"/>
          <p:cNvSpPr txBox="true"/>
          <p:nvPr/>
        </p:nvSpPr>
        <p:spPr>
          <a:xfrm rot="0">
            <a:off x="1656125" y="2383160"/>
            <a:ext cx="16230600" cy="349250"/>
          </a:xfrm>
          <a:prstGeom prst="rect">
            <a:avLst/>
          </a:prstGeom>
        </p:spPr>
        <p:txBody>
          <a:bodyPr anchor="t" rtlCol="false" tIns="0" lIns="0" bIns="0" rIns="0">
            <a:spAutoFit/>
          </a:bodyPr>
          <a:lstStyle/>
          <a:p>
            <a:pPr algn="l">
              <a:lnSpc>
                <a:spcPts val="2800"/>
              </a:lnSpc>
            </a:pPr>
            <a:r>
              <a:rPr lang="en-US" sz="2000">
                <a:solidFill>
                  <a:srgbClr val="424242"/>
                </a:solidFill>
                <a:latin typeface="Canva Sans"/>
                <a:ea typeface="Canva Sans"/>
                <a:cs typeface="Canva Sans"/>
                <a:sym typeface="Canva Sans"/>
              </a:rPr>
              <a:t>D</a:t>
            </a:r>
            <a:r>
              <a:rPr lang="en-US" sz="2000">
                <a:solidFill>
                  <a:srgbClr val="424242"/>
                </a:solidFill>
                <a:latin typeface="Canva Sans"/>
                <a:ea typeface="Canva Sans"/>
                <a:cs typeface="Canva Sans"/>
                <a:sym typeface="Canva Sans"/>
              </a:rPr>
              <a:t>escriptive and comparative analysis with trend and relationship exploration.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25852">
            <a:off x="-2330235" y="2657262"/>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4">
              <a:alphaModFix amt="25000"/>
            </a:blip>
            <a:stretch>
              <a:fillRect l="0" t="0" r="0" b="0"/>
            </a:stretch>
          </a:blipFill>
        </p:spPr>
      </p:sp>
      <p:sp>
        <p:nvSpPr>
          <p:cNvPr name="Freeform 4" id="4"/>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343327" y="-1437860"/>
            <a:ext cx="12858845" cy="4933121"/>
          </a:xfrm>
          <a:custGeom>
            <a:avLst/>
            <a:gdLst/>
            <a:ahLst/>
            <a:cxnLst/>
            <a:rect r="r" b="b" t="t" l="l"/>
            <a:pathLst>
              <a:path h="4933121" w="12858845">
                <a:moveTo>
                  <a:pt x="0" y="0"/>
                </a:moveTo>
                <a:lnTo>
                  <a:pt x="12858845" y="0"/>
                </a:lnTo>
                <a:lnTo>
                  <a:pt x="12858845" y="4933120"/>
                </a:lnTo>
                <a:lnTo>
                  <a:pt x="0" y="4933120"/>
                </a:lnTo>
                <a:lnTo>
                  <a:pt x="0" y="0"/>
                </a:lnTo>
                <a:close/>
              </a:path>
            </a:pathLst>
          </a:custGeom>
          <a:blipFill>
            <a:blip r:embed="rId7">
              <a:alphaModFix amt="25000"/>
            </a:blip>
            <a:stretch>
              <a:fillRect l="0" t="0" r="0" b="0"/>
            </a:stretch>
          </a:blipFill>
        </p:spPr>
      </p:sp>
      <p:sp>
        <p:nvSpPr>
          <p:cNvPr name="TextBox 6" id="6"/>
          <p:cNvSpPr txBox="true"/>
          <p:nvPr/>
        </p:nvSpPr>
        <p:spPr>
          <a:xfrm rot="0">
            <a:off x="806161" y="1657687"/>
            <a:ext cx="11380509" cy="1558403"/>
          </a:xfrm>
          <a:prstGeom prst="rect">
            <a:avLst/>
          </a:prstGeom>
        </p:spPr>
        <p:txBody>
          <a:bodyPr anchor="t" rtlCol="false" tIns="0" lIns="0" bIns="0" rIns="0">
            <a:spAutoFit/>
          </a:bodyPr>
          <a:lstStyle/>
          <a:p>
            <a:pPr algn="l">
              <a:lnSpc>
                <a:spcPts val="11464"/>
              </a:lnSpc>
            </a:pPr>
            <a:r>
              <a:rPr lang="en-US" sz="12196" spc="-573" b="true">
                <a:solidFill>
                  <a:srgbClr val="424242"/>
                </a:solidFill>
                <a:latin typeface="Open Sauce Heavy"/>
                <a:ea typeface="Open Sauce Heavy"/>
                <a:cs typeface="Open Sauce Heavy"/>
                <a:sym typeface="Open Sauce Heavy"/>
              </a:rPr>
              <a:t>Methodology.</a:t>
            </a:r>
          </a:p>
        </p:txBody>
      </p:sp>
      <p:sp>
        <p:nvSpPr>
          <p:cNvPr name="AutoShape 7" id="7"/>
          <p:cNvSpPr/>
          <p:nvPr/>
        </p:nvSpPr>
        <p:spPr>
          <a:xfrm>
            <a:off x="-886757" y="4390981"/>
            <a:ext cx="20061513" cy="0"/>
          </a:xfrm>
          <a:prstGeom prst="line">
            <a:avLst/>
          </a:prstGeom>
          <a:ln cap="flat" w="28575">
            <a:solidFill>
              <a:srgbClr val="185079"/>
            </a:solidFill>
            <a:prstDash val="solid"/>
            <a:headEnd type="none" len="sm" w="sm"/>
            <a:tailEnd type="none" len="sm" w="sm"/>
          </a:ln>
        </p:spPr>
      </p:sp>
      <p:grpSp>
        <p:nvGrpSpPr>
          <p:cNvPr name="Group 8" id="8"/>
          <p:cNvGrpSpPr/>
          <p:nvPr/>
        </p:nvGrpSpPr>
        <p:grpSpPr>
          <a:xfrm rot="0">
            <a:off x="2003551" y="4211205"/>
            <a:ext cx="359553" cy="359553"/>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10" id="10"/>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sp>
        <p:nvSpPr>
          <p:cNvPr name="TextBox 11" id="11"/>
          <p:cNvSpPr txBox="true"/>
          <p:nvPr/>
        </p:nvSpPr>
        <p:spPr>
          <a:xfrm rot="0">
            <a:off x="1028700" y="4887593"/>
            <a:ext cx="3737823" cy="1500888"/>
          </a:xfrm>
          <a:prstGeom prst="rect">
            <a:avLst/>
          </a:prstGeom>
        </p:spPr>
        <p:txBody>
          <a:bodyPr anchor="t" rtlCol="false" tIns="0" lIns="0" bIns="0" rIns="0">
            <a:spAutoFit/>
          </a:bodyPr>
          <a:lstStyle/>
          <a:p>
            <a:pPr algn="l">
              <a:lnSpc>
                <a:spcPts val="2987"/>
              </a:lnSpc>
            </a:pPr>
            <a:r>
              <a:rPr lang="en-US" sz="2900" b="true">
                <a:solidFill>
                  <a:srgbClr val="424242"/>
                </a:solidFill>
                <a:latin typeface="Open Sauce Bold"/>
                <a:ea typeface="Open Sauce Bold"/>
                <a:cs typeface="Open Sauce Bold"/>
                <a:sym typeface="Open Sauce Bold"/>
              </a:rPr>
              <a:t>01. Defining Problem &amp; Objective</a:t>
            </a:r>
          </a:p>
          <a:p>
            <a:pPr algn="l">
              <a:lnSpc>
                <a:spcPts val="2987"/>
              </a:lnSpc>
            </a:pPr>
          </a:p>
        </p:txBody>
      </p:sp>
      <p:sp>
        <p:nvSpPr>
          <p:cNvPr name="TextBox 12" id="12"/>
          <p:cNvSpPr txBox="true"/>
          <p:nvPr/>
        </p:nvSpPr>
        <p:spPr>
          <a:xfrm rot="0">
            <a:off x="3943046" y="4887593"/>
            <a:ext cx="3737823" cy="1129413"/>
          </a:xfrm>
          <a:prstGeom prst="rect">
            <a:avLst/>
          </a:prstGeom>
        </p:spPr>
        <p:txBody>
          <a:bodyPr anchor="t" rtlCol="false" tIns="0" lIns="0" bIns="0" rIns="0">
            <a:spAutoFit/>
          </a:bodyPr>
          <a:lstStyle/>
          <a:p>
            <a:pPr algn="l">
              <a:lnSpc>
                <a:spcPts val="2987"/>
              </a:lnSpc>
            </a:pPr>
            <a:r>
              <a:rPr lang="en-US" sz="2900" b="true">
                <a:solidFill>
                  <a:srgbClr val="424242"/>
                </a:solidFill>
                <a:latin typeface="Open Sauce Bold"/>
                <a:ea typeface="Open Sauce Bold"/>
                <a:cs typeface="Open Sauce Bold"/>
                <a:sym typeface="Open Sauce Bold"/>
              </a:rPr>
              <a:t>02</a:t>
            </a:r>
            <a:r>
              <a:rPr lang="en-US" sz="2900" b="true">
                <a:solidFill>
                  <a:srgbClr val="424242"/>
                </a:solidFill>
                <a:latin typeface="Open Sauce Bold"/>
                <a:ea typeface="Open Sauce Bold"/>
                <a:cs typeface="Open Sauce Bold"/>
                <a:sym typeface="Open Sauce Bold"/>
              </a:rPr>
              <a:t>. Exploratory </a:t>
            </a:r>
          </a:p>
          <a:p>
            <a:pPr algn="l">
              <a:lnSpc>
                <a:spcPts val="2987"/>
              </a:lnSpc>
            </a:pPr>
            <a:r>
              <a:rPr lang="en-US" sz="2900" b="true">
                <a:solidFill>
                  <a:srgbClr val="424242"/>
                </a:solidFill>
                <a:latin typeface="Open Sauce Bold"/>
                <a:ea typeface="Open Sauce Bold"/>
                <a:cs typeface="Open Sauce Bold"/>
                <a:sym typeface="Open Sauce Bold"/>
              </a:rPr>
              <a:t>Data Analysis</a:t>
            </a:r>
          </a:p>
          <a:p>
            <a:pPr algn="l">
              <a:lnSpc>
                <a:spcPts val="2987"/>
              </a:lnSpc>
            </a:pPr>
          </a:p>
        </p:txBody>
      </p:sp>
      <p:sp>
        <p:nvSpPr>
          <p:cNvPr name="TextBox 13" id="13"/>
          <p:cNvSpPr txBox="true"/>
          <p:nvPr/>
        </p:nvSpPr>
        <p:spPr>
          <a:xfrm rot="0">
            <a:off x="7546207" y="4887593"/>
            <a:ext cx="3195587" cy="1129413"/>
          </a:xfrm>
          <a:prstGeom prst="rect">
            <a:avLst/>
          </a:prstGeom>
        </p:spPr>
        <p:txBody>
          <a:bodyPr anchor="t" rtlCol="false" tIns="0" lIns="0" bIns="0" rIns="0">
            <a:spAutoFit/>
          </a:bodyPr>
          <a:lstStyle/>
          <a:p>
            <a:pPr algn="l">
              <a:lnSpc>
                <a:spcPts val="2987"/>
              </a:lnSpc>
            </a:pPr>
            <a:r>
              <a:rPr lang="en-US" sz="2900" b="true">
                <a:solidFill>
                  <a:srgbClr val="424242"/>
                </a:solidFill>
                <a:latin typeface="Open Sauce Bold"/>
                <a:ea typeface="Open Sauce Bold"/>
                <a:cs typeface="Open Sauce Bold"/>
                <a:sym typeface="Open Sauce Bold"/>
              </a:rPr>
              <a:t>03. Data </a:t>
            </a:r>
          </a:p>
          <a:p>
            <a:pPr algn="l">
              <a:lnSpc>
                <a:spcPts val="2987"/>
              </a:lnSpc>
            </a:pPr>
            <a:r>
              <a:rPr lang="en-US" sz="2900" b="true">
                <a:solidFill>
                  <a:srgbClr val="424242"/>
                </a:solidFill>
                <a:latin typeface="Open Sauce Bold"/>
                <a:ea typeface="Open Sauce Bold"/>
                <a:cs typeface="Open Sauce Bold"/>
                <a:sym typeface="Open Sauce Bold"/>
              </a:rPr>
              <a:t>Cleaning</a:t>
            </a:r>
          </a:p>
          <a:p>
            <a:pPr algn="l">
              <a:lnSpc>
                <a:spcPts val="2987"/>
              </a:lnSpc>
            </a:pPr>
          </a:p>
        </p:txBody>
      </p:sp>
      <p:sp>
        <p:nvSpPr>
          <p:cNvPr name="TextBox 14" id="14"/>
          <p:cNvSpPr txBox="true"/>
          <p:nvPr/>
        </p:nvSpPr>
        <p:spPr>
          <a:xfrm rot="0">
            <a:off x="10422892" y="4887593"/>
            <a:ext cx="3737823" cy="1500888"/>
          </a:xfrm>
          <a:prstGeom prst="rect">
            <a:avLst/>
          </a:prstGeom>
        </p:spPr>
        <p:txBody>
          <a:bodyPr anchor="t" rtlCol="false" tIns="0" lIns="0" bIns="0" rIns="0">
            <a:spAutoFit/>
          </a:bodyPr>
          <a:lstStyle/>
          <a:p>
            <a:pPr algn="l">
              <a:lnSpc>
                <a:spcPts val="2987"/>
              </a:lnSpc>
            </a:pPr>
            <a:r>
              <a:rPr lang="en-US" sz="2900" b="true">
                <a:solidFill>
                  <a:srgbClr val="424242"/>
                </a:solidFill>
                <a:latin typeface="Open Sauce Bold"/>
                <a:ea typeface="Open Sauce Bold"/>
                <a:cs typeface="Open Sauce Bold"/>
                <a:sym typeface="Open Sauce Bold"/>
              </a:rPr>
              <a:t>04. Data Analysis </a:t>
            </a:r>
          </a:p>
          <a:p>
            <a:pPr algn="l">
              <a:lnSpc>
                <a:spcPts val="2987"/>
              </a:lnSpc>
            </a:pPr>
            <a:r>
              <a:rPr lang="en-US" sz="2900" b="true">
                <a:solidFill>
                  <a:srgbClr val="424242"/>
                </a:solidFill>
                <a:latin typeface="Open Sauce Bold"/>
                <a:ea typeface="Open Sauce Bold"/>
                <a:cs typeface="Open Sauce Bold"/>
                <a:sym typeface="Open Sauce Bold"/>
              </a:rPr>
              <a:t>&amp; Visualization</a:t>
            </a:r>
          </a:p>
          <a:p>
            <a:pPr algn="l">
              <a:lnSpc>
                <a:spcPts val="2987"/>
              </a:lnSpc>
            </a:pPr>
          </a:p>
          <a:p>
            <a:pPr algn="l">
              <a:lnSpc>
                <a:spcPts val="2987"/>
              </a:lnSpc>
            </a:pPr>
          </a:p>
        </p:txBody>
      </p:sp>
      <p:sp>
        <p:nvSpPr>
          <p:cNvPr name="TextBox 15" id="15"/>
          <p:cNvSpPr txBox="true"/>
          <p:nvPr/>
        </p:nvSpPr>
        <p:spPr>
          <a:xfrm rot="0">
            <a:off x="3943046" y="6165322"/>
            <a:ext cx="3075734" cy="1314831"/>
          </a:xfrm>
          <a:prstGeom prst="rect">
            <a:avLst/>
          </a:prstGeom>
        </p:spPr>
        <p:txBody>
          <a:bodyPr anchor="t" rtlCol="false" tIns="0" lIns="0" bIns="0" rIns="0">
            <a:spAutoFit/>
          </a:bodyPr>
          <a:lstStyle/>
          <a:p>
            <a:pPr algn="l">
              <a:lnSpc>
                <a:spcPts val="2681"/>
              </a:lnSpc>
            </a:pPr>
            <a:r>
              <a:rPr lang="en-US" sz="1799" b="true">
                <a:solidFill>
                  <a:srgbClr val="424242"/>
                </a:solidFill>
                <a:latin typeface="Open Sauce Bold"/>
                <a:ea typeface="Open Sauce Bold"/>
                <a:cs typeface="Open Sauce Bold"/>
                <a:sym typeface="Open Sauce Bold"/>
              </a:rPr>
              <a:t>Ch</a:t>
            </a:r>
            <a:r>
              <a:rPr lang="en-US" b="true" sz="1799">
                <a:solidFill>
                  <a:srgbClr val="424242"/>
                </a:solidFill>
                <a:latin typeface="Open Sauce Bold"/>
                <a:ea typeface="Open Sauce Bold"/>
                <a:cs typeface="Open Sauce Bold"/>
                <a:sym typeface="Open Sauce Bold"/>
              </a:rPr>
              <a:t>eck what is in the data using Python: its structure, columns and values</a:t>
            </a:r>
          </a:p>
          <a:p>
            <a:pPr algn="l">
              <a:lnSpc>
                <a:spcPts val="2681"/>
              </a:lnSpc>
            </a:pPr>
          </a:p>
        </p:txBody>
      </p:sp>
      <p:sp>
        <p:nvSpPr>
          <p:cNvPr name="TextBox 16" id="16"/>
          <p:cNvSpPr txBox="true"/>
          <p:nvPr/>
        </p:nvSpPr>
        <p:spPr>
          <a:xfrm rot="0">
            <a:off x="7546207" y="6174847"/>
            <a:ext cx="3075734" cy="1648206"/>
          </a:xfrm>
          <a:prstGeom prst="rect">
            <a:avLst/>
          </a:prstGeom>
        </p:spPr>
        <p:txBody>
          <a:bodyPr anchor="t" rtlCol="false" tIns="0" lIns="0" bIns="0" rIns="0">
            <a:spAutoFit/>
          </a:bodyPr>
          <a:lstStyle/>
          <a:p>
            <a:pPr algn="l">
              <a:lnSpc>
                <a:spcPts val="2681"/>
              </a:lnSpc>
            </a:pPr>
            <a:r>
              <a:rPr lang="en-US" sz="1799" b="true">
                <a:solidFill>
                  <a:srgbClr val="424242"/>
                </a:solidFill>
                <a:latin typeface="Open Sauce Bold"/>
                <a:ea typeface="Open Sauce Bold"/>
                <a:cs typeface="Open Sauce Bold"/>
                <a:sym typeface="Open Sauce Bold"/>
              </a:rPr>
              <a:t>Cl</a:t>
            </a:r>
            <a:r>
              <a:rPr lang="en-US" b="true" sz="1799">
                <a:solidFill>
                  <a:srgbClr val="424242"/>
                </a:solidFill>
                <a:latin typeface="Open Sauce Bold"/>
                <a:ea typeface="Open Sauce Bold"/>
                <a:cs typeface="Open Sauce Bold"/>
                <a:sym typeface="Open Sauce Bold"/>
              </a:rPr>
              <a:t>ean and prepare the data in Power Query before building the dashboards</a:t>
            </a:r>
          </a:p>
          <a:p>
            <a:pPr algn="l">
              <a:lnSpc>
                <a:spcPts val="2681"/>
              </a:lnSpc>
            </a:pPr>
          </a:p>
        </p:txBody>
      </p:sp>
      <p:sp>
        <p:nvSpPr>
          <p:cNvPr name="TextBox 17" id="17"/>
          <p:cNvSpPr txBox="true"/>
          <p:nvPr/>
        </p:nvSpPr>
        <p:spPr>
          <a:xfrm rot="0">
            <a:off x="10648804" y="6174847"/>
            <a:ext cx="3075734" cy="1314831"/>
          </a:xfrm>
          <a:prstGeom prst="rect">
            <a:avLst/>
          </a:prstGeom>
        </p:spPr>
        <p:txBody>
          <a:bodyPr anchor="t" rtlCol="false" tIns="0" lIns="0" bIns="0" rIns="0">
            <a:spAutoFit/>
          </a:bodyPr>
          <a:lstStyle/>
          <a:p>
            <a:pPr algn="l">
              <a:lnSpc>
                <a:spcPts val="2681"/>
              </a:lnSpc>
            </a:pPr>
            <a:r>
              <a:rPr lang="en-US" sz="1799" b="true">
                <a:solidFill>
                  <a:srgbClr val="424242"/>
                </a:solidFill>
                <a:latin typeface="Open Sauce Bold"/>
                <a:ea typeface="Open Sauce Bold"/>
                <a:cs typeface="Open Sauce Bold"/>
                <a:sym typeface="Open Sauce Bold"/>
              </a:rPr>
              <a:t>Analyz</a:t>
            </a:r>
            <a:r>
              <a:rPr lang="en-US" b="true" sz="1799">
                <a:solidFill>
                  <a:srgbClr val="424242"/>
                </a:solidFill>
                <a:latin typeface="Open Sauce Bold"/>
                <a:ea typeface="Open Sauce Bold"/>
                <a:cs typeface="Open Sauce Bold"/>
                <a:sym typeface="Open Sauce Bold"/>
              </a:rPr>
              <a:t>e patterns and trends in Power BI dashboards</a:t>
            </a:r>
          </a:p>
          <a:p>
            <a:pPr algn="l">
              <a:lnSpc>
                <a:spcPts val="2681"/>
              </a:lnSpc>
            </a:pPr>
          </a:p>
        </p:txBody>
      </p:sp>
      <p:sp>
        <p:nvSpPr>
          <p:cNvPr name="TextBox 18" id="18"/>
          <p:cNvSpPr txBox="true"/>
          <p:nvPr/>
        </p:nvSpPr>
        <p:spPr>
          <a:xfrm rot="0">
            <a:off x="1036940" y="6165322"/>
            <a:ext cx="3075734" cy="981456"/>
          </a:xfrm>
          <a:prstGeom prst="rect">
            <a:avLst/>
          </a:prstGeom>
        </p:spPr>
        <p:txBody>
          <a:bodyPr anchor="t" rtlCol="false" tIns="0" lIns="0" bIns="0" rIns="0">
            <a:spAutoFit/>
          </a:bodyPr>
          <a:lstStyle/>
          <a:p>
            <a:pPr algn="l">
              <a:lnSpc>
                <a:spcPts val="2681"/>
              </a:lnSpc>
            </a:pPr>
            <a:r>
              <a:rPr lang="en-US" sz="1799" b="true">
                <a:solidFill>
                  <a:srgbClr val="424242"/>
                </a:solidFill>
                <a:latin typeface="Open Sauce Bold"/>
                <a:ea typeface="Open Sauce Bold"/>
                <a:cs typeface="Open Sauce Bold"/>
                <a:sym typeface="Open Sauce Bold"/>
              </a:rPr>
              <a:t>Backg</a:t>
            </a:r>
            <a:r>
              <a:rPr lang="en-US" b="true" sz="1799">
                <a:solidFill>
                  <a:srgbClr val="424242"/>
                </a:solidFill>
                <a:latin typeface="Open Sauce Bold"/>
                <a:ea typeface="Open Sauce Bold"/>
                <a:cs typeface="Open Sauce Bold"/>
                <a:sym typeface="Open Sauce Bold"/>
              </a:rPr>
              <a:t>round,</a:t>
            </a:r>
          </a:p>
          <a:p>
            <a:pPr algn="l">
              <a:lnSpc>
                <a:spcPts val="2681"/>
              </a:lnSpc>
            </a:pPr>
            <a:r>
              <a:rPr lang="en-US" b="true" sz="1799">
                <a:solidFill>
                  <a:srgbClr val="424242"/>
                </a:solidFill>
                <a:latin typeface="Open Sauce Bold"/>
                <a:ea typeface="Open Sauce Bold"/>
                <a:cs typeface="Open Sauce Bold"/>
                <a:sym typeface="Open Sauce Bold"/>
              </a:rPr>
              <a:t>problem statement,</a:t>
            </a:r>
          </a:p>
          <a:p>
            <a:pPr algn="l">
              <a:lnSpc>
                <a:spcPts val="2681"/>
              </a:lnSpc>
            </a:pPr>
            <a:r>
              <a:rPr lang="en-US" b="true" sz="1799">
                <a:solidFill>
                  <a:srgbClr val="424242"/>
                </a:solidFill>
                <a:latin typeface="Open Sauce Bold"/>
                <a:ea typeface="Open Sauce Bold"/>
                <a:cs typeface="Open Sauce Bold"/>
                <a:sym typeface="Open Sauce Bold"/>
              </a:rPr>
              <a:t>and objective</a:t>
            </a:r>
          </a:p>
        </p:txBody>
      </p:sp>
      <p:grpSp>
        <p:nvGrpSpPr>
          <p:cNvPr name="Group 19" id="19"/>
          <p:cNvGrpSpPr/>
          <p:nvPr/>
        </p:nvGrpSpPr>
        <p:grpSpPr>
          <a:xfrm rot="0">
            <a:off x="5211559" y="4211205"/>
            <a:ext cx="359553" cy="35955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21" id="21"/>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grpSp>
        <p:nvGrpSpPr>
          <p:cNvPr name="Group 22" id="22"/>
          <p:cNvGrpSpPr/>
          <p:nvPr/>
        </p:nvGrpSpPr>
        <p:grpSpPr>
          <a:xfrm rot="0">
            <a:off x="8109169" y="4211205"/>
            <a:ext cx="359553" cy="35955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24" id="24"/>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grpSp>
        <p:nvGrpSpPr>
          <p:cNvPr name="Group 25" id="25"/>
          <p:cNvGrpSpPr/>
          <p:nvPr/>
        </p:nvGrpSpPr>
        <p:grpSpPr>
          <a:xfrm rot="0">
            <a:off x="11932250" y="4211205"/>
            <a:ext cx="359553" cy="35955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27" id="27"/>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grpSp>
        <p:nvGrpSpPr>
          <p:cNvPr name="Group 28" id="28"/>
          <p:cNvGrpSpPr/>
          <p:nvPr/>
        </p:nvGrpSpPr>
        <p:grpSpPr>
          <a:xfrm rot="0">
            <a:off x="15538446" y="4211205"/>
            <a:ext cx="359553" cy="359553"/>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lnTo>
                    <a:pt x="523042" y="124802"/>
                  </a:lnTo>
                  <a:lnTo>
                    <a:pt x="693768" y="119032"/>
                  </a:lnTo>
                  <a:lnTo>
                    <a:pt x="687998" y="289758"/>
                  </a:lnTo>
                  <a:lnTo>
                    <a:pt x="812800" y="406400"/>
                  </a:lnTo>
                  <a:lnTo>
                    <a:pt x="687998" y="523042"/>
                  </a:lnTo>
                  <a:lnTo>
                    <a:pt x="693768" y="693768"/>
                  </a:lnTo>
                  <a:lnTo>
                    <a:pt x="523042" y="687998"/>
                  </a:lnTo>
                  <a:lnTo>
                    <a:pt x="406400" y="812800"/>
                  </a:lnTo>
                  <a:lnTo>
                    <a:pt x="289758" y="687998"/>
                  </a:lnTo>
                  <a:lnTo>
                    <a:pt x="119032" y="693768"/>
                  </a:lnTo>
                  <a:lnTo>
                    <a:pt x="124802" y="523042"/>
                  </a:lnTo>
                  <a:lnTo>
                    <a:pt x="0" y="406400"/>
                  </a:lnTo>
                  <a:lnTo>
                    <a:pt x="124802" y="289758"/>
                  </a:lnTo>
                  <a:lnTo>
                    <a:pt x="119032" y="119032"/>
                  </a:lnTo>
                  <a:lnTo>
                    <a:pt x="289758" y="124802"/>
                  </a:lnTo>
                  <a:lnTo>
                    <a:pt x="406400" y="0"/>
                  </a:lnTo>
                  <a:close/>
                </a:path>
              </a:pathLst>
            </a:custGeom>
            <a:solidFill>
              <a:srgbClr val="185079"/>
            </a:solidFill>
          </p:spPr>
        </p:sp>
        <p:sp>
          <p:nvSpPr>
            <p:cNvPr name="TextBox 30" id="30"/>
            <p:cNvSpPr txBox="true"/>
            <p:nvPr/>
          </p:nvSpPr>
          <p:spPr>
            <a:xfrm>
              <a:off x="127000" y="174625"/>
              <a:ext cx="558800" cy="511175"/>
            </a:xfrm>
            <a:prstGeom prst="rect">
              <a:avLst/>
            </a:prstGeom>
          </p:spPr>
          <p:txBody>
            <a:bodyPr anchor="ctr" rtlCol="false" tIns="50800" lIns="50800" bIns="50800" rIns="50800"/>
            <a:lstStyle/>
            <a:p>
              <a:pPr algn="ctr">
                <a:lnSpc>
                  <a:spcPts val="2266"/>
                </a:lnSpc>
              </a:pPr>
            </a:p>
          </p:txBody>
        </p:sp>
      </p:grpSp>
      <p:sp>
        <p:nvSpPr>
          <p:cNvPr name="TextBox 31" id="31"/>
          <p:cNvSpPr txBox="true"/>
          <p:nvPr/>
        </p:nvSpPr>
        <p:spPr>
          <a:xfrm rot="0">
            <a:off x="14360133" y="4915289"/>
            <a:ext cx="3737823" cy="1129413"/>
          </a:xfrm>
          <a:prstGeom prst="rect">
            <a:avLst/>
          </a:prstGeom>
        </p:spPr>
        <p:txBody>
          <a:bodyPr anchor="t" rtlCol="false" tIns="0" lIns="0" bIns="0" rIns="0">
            <a:spAutoFit/>
          </a:bodyPr>
          <a:lstStyle/>
          <a:p>
            <a:pPr algn="l">
              <a:lnSpc>
                <a:spcPts val="2987"/>
              </a:lnSpc>
            </a:pPr>
            <a:r>
              <a:rPr lang="en-US" sz="2900" b="true">
                <a:solidFill>
                  <a:srgbClr val="424242"/>
                </a:solidFill>
                <a:latin typeface="Open Sauce Bold"/>
                <a:ea typeface="Open Sauce Bold"/>
                <a:cs typeface="Open Sauce Bold"/>
                <a:sym typeface="Open Sauce Bold"/>
              </a:rPr>
              <a:t>05. Insight &amp; Recommendation</a:t>
            </a:r>
          </a:p>
          <a:p>
            <a:pPr algn="l">
              <a:lnSpc>
                <a:spcPts val="2987"/>
              </a:lnSpc>
            </a:pPr>
          </a:p>
        </p:txBody>
      </p:sp>
      <p:sp>
        <p:nvSpPr>
          <p:cNvPr name="TextBox 32" id="32"/>
          <p:cNvSpPr txBox="true"/>
          <p:nvPr/>
        </p:nvSpPr>
        <p:spPr>
          <a:xfrm rot="0">
            <a:off x="14360133" y="6165322"/>
            <a:ext cx="3075734" cy="1314831"/>
          </a:xfrm>
          <a:prstGeom prst="rect">
            <a:avLst/>
          </a:prstGeom>
        </p:spPr>
        <p:txBody>
          <a:bodyPr anchor="t" rtlCol="false" tIns="0" lIns="0" bIns="0" rIns="0">
            <a:spAutoFit/>
          </a:bodyPr>
          <a:lstStyle/>
          <a:p>
            <a:pPr algn="l">
              <a:lnSpc>
                <a:spcPts val="2681"/>
              </a:lnSpc>
            </a:pPr>
            <a:r>
              <a:rPr lang="en-US" sz="1799" b="true">
                <a:solidFill>
                  <a:srgbClr val="424242"/>
                </a:solidFill>
                <a:latin typeface="Open Sauce Bold"/>
                <a:ea typeface="Open Sauce Bold"/>
                <a:cs typeface="Open Sauce Bold"/>
                <a:sym typeface="Open Sauce Bold"/>
              </a:rPr>
              <a:t>Add</a:t>
            </a:r>
            <a:r>
              <a:rPr lang="en-US" b="true" sz="1799">
                <a:solidFill>
                  <a:srgbClr val="424242"/>
                </a:solidFill>
                <a:latin typeface="Open Sauce Bold"/>
                <a:ea typeface="Open Sauce Bold"/>
                <a:cs typeface="Open Sauce Bold"/>
                <a:sym typeface="Open Sauce Bold"/>
              </a:rPr>
              <a:t>ress insights and recommend the best languages to learn</a:t>
            </a:r>
          </a:p>
          <a:p>
            <a:pPr algn="l">
              <a:lnSpc>
                <a:spcPts val="268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0">
            <a:off x="64223" y="3602732"/>
            <a:ext cx="18339515" cy="9403170"/>
          </a:xfrm>
          <a:custGeom>
            <a:avLst/>
            <a:gdLst/>
            <a:ahLst/>
            <a:cxnLst/>
            <a:rect r="r" b="b" t="t" l="l"/>
            <a:pathLst>
              <a:path h="9403170" w="18339515">
                <a:moveTo>
                  <a:pt x="0" y="0"/>
                </a:moveTo>
                <a:lnTo>
                  <a:pt x="18339516" y="0"/>
                </a:lnTo>
                <a:lnTo>
                  <a:pt x="18339516" y="9403170"/>
                </a:lnTo>
                <a:lnTo>
                  <a:pt x="0" y="9403170"/>
                </a:lnTo>
                <a:lnTo>
                  <a:pt x="0" y="0"/>
                </a:lnTo>
                <a:close/>
              </a:path>
            </a:pathLst>
          </a:custGeom>
          <a:blipFill>
            <a:blip r:embed="rId2">
              <a:alphaModFix amt="16000"/>
            </a:blip>
            <a:stretch>
              <a:fillRect l="0" t="0" r="0" b="0"/>
            </a:stretch>
          </a:blipFill>
        </p:spPr>
      </p:sp>
      <p:grpSp>
        <p:nvGrpSpPr>
          <p:cNvPr name="Group 3" id="3"/>
          <p:cNvGrpSpPr/>
          <p:nvPr/>
        </p:nvGrpSpPr>
        <p:grpSpPr>
          <a:xfrm rot="0">
            <a:off x="-203669" y="-206665"/>
            <a:ext cx="18695337" cy="4744221"/>
            <a:chOff x="0" y="0"/>
            <a:chExt cx="2896397" cy="735004"/>
          </a:xfrm>
        </p:grpSpPr>
        <p:sp>
          <p:nvSpPr>
            <p:cNvPr name="Freeform 4" id="4"/>
            <p:cNvSpPr/>
            <p:nvPr/>
          </p:nvSpPr>
          <p:spPr>
            <a:xfrm flipH="false" flipV="false" rot="0">
              <a:off x="0" y="0"/>
              <a:ext cx="2896397" cy="735004"/>
            </a:xfrm>
            <a:custGeom>
              <a:avLst/>
              <a:gdLst/>
              <a:ahLst/>
              <a:cxnLst/>
              <a:rect r="r" b="b" t="t" l="l"/>
              <a:pathLst>
                <a:path h="735004" w="2896397">
                  <a:moveTo>
                    <a:pt x="0" y="0"/>
                  </a:moveTo>
                  <a:lnTo>
                    <a:pt x="2896397" y="0"/>
                  </a:lnTo>
                  <a:lnTo>
                    <a:pt x="2896397" y="735004"/>
                  </a:lnTo>
                  <a:lnTo>
                    <a:pt x="0" y="735004"/>
                  </a:lnTo>
                  <a:close/>
                </a:path>
              </a:pathLst>
            </a:custGeom>
            <a:blipFill>
              <a:blip r:embed="rId3"/>
              <a:stretch>
                <a:fillRect l="0" t="-168860" r="0" b="-294089"/>
              </a:stretch>
            </a:blipFill>
          </p:spPr>
        </p:sp>
      </p:grpSp>
      <p:grpSp>
        <p:nvGrpSpPr>
          <p:cNvPr name="Group 5" id="5"/>
          <p:cNvGrpSpPr/>
          <p:nvPr/>
        </p:nvGrpSpPr>
        <p:grpSpPr>
          <a:xfrm rot="0">
            <a:off x="894040" y="2728442"/>
            <a:ext cx="16495548" cy="6691928"/>
            <a:chOff x="0" y="0"/>
            <a:chExt cx="4344507" cy="1762483"/>
          </a:xfrm>
        </p:grpSpPr>
        <p:sp>
          <p:nvSpPr>
            <p:cNvPr name="Freeform 6" id="6"/>
            <p:cNvSpPr/>
            <p:nvPr/>
          </p:nvSpPr>
          <p:spPr>
            <a:xfrm flipH="false" flipV="false" rot="0">
              <a:off x="0" y="0"/>
              <a:ext cx="4344507" cy="1762483"/>
            </a:xfrm>
            <a:custGeom>
              <a:avLst/>
              <a:gdLst/>
              <a:ahLst/>
              <a:cxnLst/>
              <a:rect r="r" b="b" t="t" l="l"/>
              <a:pathLst>
                <a:path h="1762483" w="4344507">
                  <a:moveTo>
                    <a:pt x="43648" y="0"/>
                  </a:moveTo>
                  <a:lnTo>
                    <a:pt x="4300858" y="0"/>
                  </a:lnTo>
                  <a:cubicBezTo>
                    <a:pt x="4312435" y="0"/>
                    <a:pt x="4323537" y="4599"/>
                    <a:pt x="4331722" y="12784"/>
                  </a:cubicBezTo>
                  <a:cubicBezTo>
                    <a:pt x="4339908" y="20970"/>
                    <a:pt x="4344507" y="32072"/>
                    <a:pt x="4344507" y="43648"/>
                  </a:cubicBezTo>
                  <a:lnTo>
                    <a:pt x="4344507" y="1718835"/>
                  </a:lnTo>
                  <a:cubicBezTo>
                    <a:pt x="4344507" y="1742941"/>
                    <a:pt x="4324965" y="1762483"/>
                    <a:pt x="4300858" y="1762483"/>
                  </a:cubicBezTo>
                  <a:lnTo>
                    <a:pt x="43648" y="1762483"/>
                  </a:lnTo>
                  <a:cubicBezTo>
                    <a:pt x="32072" y="1762483"/>
                    <a:pt x="20970" y="1757885"/>
                    <a:pt x="12784" y="1749699"/>
                  </a:cubicBezTo>
                  <a:cubicBezTo>
                    <a:pt x="4599" y="1741513"/>
                    <a:pt x="0" y="1730411"/>
                    <a:pt x="0" y="1718835"/>
                  </a:cubicBezTo>
                  <a:lnTo>
                    <a:pt x="0" y="43648"/>
                  </a:lnTo>
                  <a:cubicBezTo>
                    <a:pt x="0" y="19542"/>
                    <a:pt x="19542" y="0"/>
                    <a:pt x="43648" y="0"/>
                  </a:cubicBezTo>
                  <a:close/>
                </a:path>
              </a:pathLst>
            </a:custGeom>
            <a:solidFill>
              <a:srgbClr val="424242"/>
            </a:solidFill>
            <a:ln w="19050" cap="rnd">
              <a:solidFill>
                <a:srgbClr val="D0D7DD"/>
              </a:solidFill>
              <a:prstDash val="solid"/>
              <a:round/>
            </a:ln>
          </p:spPr>
        </p:sp>
        <p:sp>
          <p:nvSpPr>
            <p:cNvPr name="TextBox 7" id="7"/>
            <p:cNvSpPr txBox="true"/>
            <p:nvPr/>
          </p:nvSpPr>
          <p:spPr>
            <a:xfrm>
              <a:off x="0" y="-28575"/>
              <a:ext cx="4344507" cy="1791058"/>
            </a:xfrm>
            <a:prstGeom prst="rect">
              <a:avLst/>
            </a:prstGeom>
          </p:spPr>
          <p:txBody>
            <a:bodyPr anchor="ctr" rtlCol="false" tIns="50800" lIns="50800" bIns="50800" rIns="50800"/>
            <a:lstStyle/>
            <a:p>
              <a:pPr algn="ctr">
                <a:lnSpc>
                  <a:spcPts val="2015"/>
                </a:lnSpc>
              </a:pPr>
            </a:p>
          </p:txBody>
        </p:sp>
      </p:grpSp>
      <p:grpSp>
        <p:nvGrpSpPr>
          <p:cNvPr name="Group 8" id="8"/>
          <p:cNvGrpSpPr/>
          <p:nvPr/>
        </p:nvGrpSpPr>
        <p:grpSpPr>
          <a:xfrm rot="0">
            <a:off x="16486613" y="3122398"/>
            <a:ext cx="480334" cy="48033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10" id="10"/>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
        <p:nvSpPr>
          <p:cNvPr name="TextBox 11" id="11"/>
          <p:cNvSpPr txBox="true"/>
          <p:nvPr/>
        </p:nvSpPr>
        <p:spPr>
          <a:xfrm rot="0">
            <a:off x="4063643" y="4725666"/>
            <a:ext cx="10156343" cy="1026168"/>
          </a:xfrm>
          <a:prstGeom prst="rect">
            <a:avLst/>
          </a:prstGeom>
        </p:spPr>
        <p:txBody>
          <a:bodyPr anchor="t" rtlCol="false" tIns="0" lIns="0" bIns="0" rIns="0">
            <a:spAutoFit/>
          </a:bodyPr>
          <a:lstStyle/>
          <a:p>
            <a:pPr algn="ctr">
              <a:lnSpc>
                <a:spcPts val="7520"/>
              </a:lnSpc>
            </a:pPr>
            <a:r>
              <a:rPr lang="en-US" b="true" sz="8000" spc="-376">
                <a:solidFill>
                  <a:srgbClr val="FFFFFF"/>
                </a:solidFill>
                <a:latin typeface="Open Sauce Heavy"/>
                <a:ea typeface="Open Sauce Heavy"/>
                <a:cs typeface="Open Sauce Heavy"/>
                <a:sym typeface="Open Sauce Heavy"/>
              </a:rPr>
              <a:t>Problem Statement</a:t>
            </a:r>
          </a:p>
        </p:txBody>
      </p:sp>
      <p:sp>
        <p:nvSpPr>
          <p:cNvPr name="TextBox 12" id="12"/>
          <p:cNvSpPr txBox="true"/>
          <p:nvPr/>
        </p:nvSpPr>
        <p:spPr>
          <a:xfrm rot="0">
            <a:off x="2594038" y="6368837"/>
            <a:ext cx="13099924" cy="1243965"/>
          </a:xfrm>
          <a:prstGeom prst="rect">
            <a:avLst/>
          </a:prstGeom>
        </p:spPr>
        <p:txBody>
          <a:bodyPr anchor="t" rtlCol="false" tIns="0" lIns="0" bIns="0" rIns="0">
            <a:spAutoFit/>
          </a:bodyPr>
          <a:lstStyle/>
          <a:p>
            <a:pPr algn="ctr">
              <a:lnSpc>
                <a:spcPts val="3359"/>
              </a:lnSpc>
            </a:pPr>
            <a:r>
              <a:rPr lang="en-US" sz="2399" spc="-112">
                <a:solidFill>
                  <a:srgbClr val="FFFFFF"/>
                </a:solidFill>
                <a:latin typeface="Open Sauce Light"/>
                <a:ea typeface="Open Sauce Light"/>
                <a:cs typeface="Open Sauce Light"/>
                <a:sym typeface="Open Sauce Light"/>
              </a:rPr>
              <a:t>With 29 programming languages to choose from, career changers entering tech often pick based on hype. Which languages offer the best mix of demand, salary, opportunity, and learning difficulty for someone transitioning into tech?</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424242"/>
        </a:solidFill>
      </p:bgPr>
    </p:bg>
    <p:spTree>
      <p:nvGrpSpPr>
        <p:cNvPr id="1" name=""/>
        <p:cNvGrpSpPr/>
        <p:nvPr/>
      </p:nvGrpSpPr>
      <p:grpSpPr>
        <a:xfrm>
          <a:off x="0" y="0"/>
          <a:ext cx="0" cy="0"/>
          <a:chOff x="0" y="0"/>
          <a:chExt cx="0" cy="0"/>
        </a:xfrm>
      </p:grpSpPr>
      <p:sp>
        <p:nvSpPr>
          <p:cNvPr name="Freeform 2" id="2"/>
          <p:cNvSpPr/>
          <p:nvPr/>
        </p:nvSpPr>
        <p:spPr>
          <a:xfrm flipH="false" flipV="false" rot="1925852">
            <a:off x="11466076" y="-4040445"/>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53566" y="1661018"/>
            <a:ext cx="16360888" cy="7964506"/>
            <a:chOff x="0" y="0"/>
            <a:chExt cx="4309041" cy="2097648"/>
          </a:xfrm>
        </p:grpSpPr>
        <p:sp>
          <p:nvSpPr>
            <p:cNvPr name="Freeform 5" id="5"/>
            <p:cNvSpPr/>
            <p:nvPr/>
          </p:nvSpPr>
          <p:spPr>
            <a:xfrm flipH="false" flipV="false" rot="0">
              <a:off x="0" y="0"/>
              <a:ext cx="4309040" cy="2097648"/>
            </a:xfrm>
            <a:custGeom>
              <a:avLst/>
              <a:gdLst/>
              <a:ahLst/>
              <a:cxnLst/>
              <a:rect r="r" b="b" t="t" l="l"/>
              <a:pathLst>
                <a:path h="2097648" w="4309040">
                  <a:moveTo>
                    <a:pt x="44007" y="0"/>
                  </a:moveTo>
                  <a:lnTo>
                    <a:pt x="4265033" y="0"/>
                  </a:lnTo>
                  <a:cubicBezTo>
                    <a:pt x="4276704" y="0"/>
                    <a:pt x="4287898" y="4636"/>
                    <a:pt x="4296151" y="12889"/>
                  </a:cubicBezTo>
                  <a:cubicBezTo>
                    <a:pt x="4304404" y="21142"/>
                    <a:pt x="4309040" y="32336"/>
                    <a:pt x="4309040" y="44007"/>
                  </a:cubicBezTo>
                  <a:lnTo>
                    <a:pt x="4309040" y="2053640"/>
                  </a:lnTo>
                  <a:cubicBezTo>
                    <a:pt x="4309040" y="2065312"/>
                    <a:pt x="4304404" y="2076505"/>
                    <a:pt x="4296151" y="2084758"/>
                  </a:cubicBezTo>
                  <a:cubicBezTo>
                    <a:pt x="4287898" y="2093011"/>
                    <a:pt x="4276704" y="2097648"/>
                    <a:pt x="4265033" y="2097648"/>
                  </a:cubicBezTo>
                  <a:lnTo>
                    <a:pt x="44007" y="2097648"/>
                  </a:lnTo>
                  <a:cubicBezTo>
                    <a:pt x="32336" y="2097648"/>
                    <a:pt x="21142" y="2093011"/>
                    <a:pt x="12889" y="2084758"/>
                  </a:cubicBezTo>
                  <a:cubicBezTo>
                    <a:pt x="4636" y="2076505"/>
                    <a:pt x="0" y="2065312"/>
                    <a:pt x="0" y="2053640"/>
                  </a:cubicBezTo>
                  <a:lnTo>
                    <a:pt x="0" y="44007"/>
                  </a:lnTo>
                  <a:cubicBezTo>
                    <a:pt x="0" y="32336"/>
                    <a:pt x="4636" y="21142"/>
                    <a:pt x="12889" y="12889"/>
                  </a:cubicBezTo>
                  <a:cubicBezTo>
                    <a:pt x="21142" y="4636"/>
                    <a:pt x="32336" y="0"/>
                    <a:pt x="44007" y="0"/>
                  </a:cubicBezTo>
                  <a:close/>
                </a:path>
              </a:pathLst>
            </a:custGeom>
            <a:solidFill>
              <a:srgbClr val="424242"/>
            </a:solidFill>
            <a:ln w="19050" cap="rnd">
              <a:solidFill>
                <a:srgbClr val="D0D7DD"/>
              </a:solidFill>
              <a:prstDash val="solid"/>
              <a:round/>
            </a:ln>
          </p:spPr>
        </p:sp>
        <p:sp>
          <p:nvSpPr>
            <p:cNvPr name="TextBox 6" id="6"/>
            <p:cNvSpPr txBox="true"/>
            <p:nvPr/>
          </p:nvSpPr>
          <p:spPr>
            <a:xfrm>
              <a:off x="0" y="-28575"/>
              <a:ext cx="4309041" cy="2126223"/>
            </a:xfrm>
            <a:prstGeom prst="rect">
              <a:avLst/>
            </a:prstGeom>
          </p:spPr>
          <p:txBody>
            <a:bodyPr anchor="ctr" rtlCol="false" tIns="50800" lIns="50800" bIns="50800" rIns="50800"/>
            <a:lstStyle/>
            <a:p>
              <a:pPr algn="ctr">
                <a:lnSpc>
                  <a:spcPts val="2015"/>
                </a:lnSpc>
              </a:pPr>
            </a:p>
          </p:txBody>
        </p:sp>
      </p:grpSp>
      <p:sp>
        <p:nvSpPr>
          <p:cNvPr name="TextBox 7" id="7"/>
          <p:cNvSpPr txBox="true"/>
          <p:nvPr/>
        </p:nvSpPr>
        <p:spPr>
          <a:xfrm rot="0">
            <a:off x="1823905" y="656920"/>
            <a:ext cx="13389009" cy="769620"/>
          </a:xfrm>
          <a:prstGeom prst="rect">
            <a:avLst/>
          </a:prstGeom>
        </p:spPr>
        <p:txBody>
          <a:bodyPr anchor="t" rtlCol="false" tIns="0" lIns="0" bIns="0" rIns="0">
            <a:spAutoFit/>
          </a:bodyPr>
          <a:lstStyle/>
          <a:p>
            <a:pPr algn="l">
              <a:lnSpc>
                <a:spcPts val="5640"/>
              </a:lnSpc>
            </a:pPr>
            <a:r>
              <a:rPr lang="en-US" sz="6000" spc="-282" b="true">
                <a:solidFill>
                  <a:srgbClr val="FFFFFF"/>
                </a:solidFill>
                <a:latin typeface="Open Sauce Heavy"/>
                <a:ea typeface="Open Sauce Heavy"/>
                <a:cs typeface="Open Sauce Heavy"/>
                <a:sym typeface="Open Sauce Heavy"/>
              </a:rPr>
              <a:t>Executive Summary</a:t>
            </a:r>
          </a:p>
        </p:txBody>
      </p:sp>
      <p:sp>
        <p:nvSpPr>
          <p:cNvPr name="TextBox 8" id="8"/>
          <p:cNvSpPr txBox="true"/>
          <p:nvPr/>
        </p:nvSpPr>
        <p:spPr>
          <a:xfrm rot="0">
            <a:off x="1787517" y="2811806"/>
            <a:ext cx="5658472" cy="381000"/>
          </a:xfrm>
          <a:prstGeom prst="rect">
            <a:avLst/>
          </a:prstGeom>
        </p:spPr>
        <p:txBody>
          <a:bodyPr anchor="t" rtlCol="false" tIns="0" lIns="0" bIns="0" rIns="0">
            <a:spAutoFit/>
          </a:bodyPr>
          <a:lstStyle/>
          <a:p>
            <a:pPr algn="l">
              <a:lnSpc>
                <a:spcPts val="3000"/>
              </a:lnSpc>
            </a:pPr>
            <a:r>
              <a:rPr lang="en-US" b="true" sz="2500" spc="-117">
                <a:solidFill>
                  <a:srgbClr val="FFFFFF"/>
                </a:solidFill>
                <a:latin typeface="Open Sauce Heavy"/>
                <a:ea typeface="Open Sauce Heavy"/>
                <a:cs typeface="Open Sauce Heavy"/>
                <a:sym typeface="Open Sauce Heavy"/>
              </a:rPr>
              <a:t>1. PROJECT BACKGROUND</a:t>
            </a:r>
          </a:p>
        </p:txBody>
      </p:sp>
      <p:sp>
        <p:nvSpPr>
          <p:cNvPr name="TextBox 9" id="9"/>
          <p:cNvSpPr txBox="true"/>
          <p:nvPr/>
        </p:nvSpPr>
        <p:spPr>
          <a:xfrm rot="0">
            <a:off x="1787517" y="6249820"/>
            <a:ext cx="7152968" cy="323850"/>
          </a:xfrm>
          <a:prstGeom prst="rect">
            <a:avLst/>
          </a:prstGeom>
        </p:spPr>
        <p:txBody>
          <a:bodyPr anchor="t" rtlCol="false" tIns="0" lIns="0" bIns="0" rIns="0">
            <a:spAutoFit/>
          </a:bodyPr>
          <a:lstStyle/>
          <a:p>
            <a:pPr algn="l">
              <a:lnSpc>
                <a:spcPts val="2640"/>
              </a:lnSpc>
            </a:pPr>
            <a:r>
              <a:rPr lang="en-US" b="true" sz="2200" spc="-103">
                <a:solidFill>
                  <a:srgbClr val="FFFFFF"/>
                </a:solidFill>
                <a:latin typeface="Open Sauce Heavy"/>
                <a:ea typeface="Open Sauce Heavy"/>
                <a:cs typeface="Open Sauce Heavy"/>
                <a:sym typeface="Open Sauce Heavy"/>
              </a:rPr>
              <a:t>2. ANALYSIS &amp; EVALUATION: DEMAND &amp; POPULARITY</a:t>
            </a:r>
          </a:p>
        </p:txBody>
      </p:sp>
      <p:sp>
        <p:nvSpPr>
          <p:cNvPr name="AutoShape 10" id="10"/>
          <p:cNvSpPr/>
          <p:nvPr/>
        </p:nvSpPr>
        <p:spPr>
          <a:xfrm>
            <a:off x="1787517" y="5730707"/>
            <a:ext cx="4574286" cy="0"/>
          </a:xfrm>
          <a:prstGeom prst="line">
            <a:avLst/>
          </a:prstGeom>
          <a:ln cap="flat" w="19050">
            <a:solidFill>
              <a:srgbClr val="D0D7DD"/>
            </a:solidFill>
            <a:prstDash val="solid"/>
            <a:headEnd type="none" len="sm" w="sm"/>
            <a:tailEnd type="none" len="sm" w="sm"/>
          </a:ln>
        </p:spPr>
      </p:sp>
      <p:sp>
        <p:nvSpPr>
          <p:cNvPr name="AutoShape 11" id="11"/>
          <p:cNvSpPr/>
          <p:nvPr/>
        </p:nvSpPr>
        <p:spPr>
          <a:xfrm flipH="true">
            <a:off x="9144000" y="2422153"/>
            <a:ext cx="9525" cy="6094492"/>
          </a:xfrm>
          <a:prstGeom prst="line">
            <a:avLst/>
          </a:prstGeom>
          <a:ln cap="flat" w="19050">
            <a:solidFill>
              <a:srgbClr val="D0D7DD"/>
            </a:solidFill>
            <a:prstDash val="solid"/>
            <a:headEnd type="none" len="sm" w="sm"/>
            <a:tailEnd type="none" len="sm" w="sm"/>
          </a:ln>
        </p:spPr>
      </p:sp>
      <p:grpSp>
        <p:nvGrpSpPr>
          <p:cNvPr name="Group 12" id="12"/>
          <p:cNvGrpSpPr/>
          <p:nvPr/>
        </p:nvGrpSpPr>
        <p:grpSpPr>
          <a:xfrm rot="0">
            <a:off x="1668400" y="5548445"/>
            <a:ext cx="387050" cy="38705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14" id="14"/>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grpSp>
        <p:nvGrpSpPr>
          <p:cNvPr name="Group 15" id="15"/>
          <p:cNvGrpSpPr/>
          <p:nvPr/>
        </p:nvGrpSpPr>
        <p:grpSpPr>
          <a:xfrm rot="0">
            <a:off x="6361803" y="5537182"/>
            <a:ext cx="387050" cy="38705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17" id="17"/>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grpSp>
        <p:nvGrpSpPr>
          <p:cNvPr name="Group 18" id="18"/>
          <p:cNvGrpSpPr/>
          <p:nvPr/>
        </p:nvGrpSpPr>
        <p:grpSpPr>
          <a:xfrm rot="0">
            <a:off x="8940485" y="2228628"/>
            <a:ext cx="387050" cy="38705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20" id="20"/>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
        <p:nvSpPr>
          <p:cNvPr name="TextBox 21" id="21"/>
          <p:cNvSpPr txBox="true"/>
          <p:nvPr/>
        </p:nvSpPr>
        <p:spPr>
          <a:xfrm rot="0">
            <a:off x="1668400" y="3305792"/>
            <a:ext cx="6263658" cy="1974215"/>
          </a:xfrm>
          <a:prstGeom prst="rect">
            <a:avLst/>
          </a:prstGeom>
        </p:spPr>
        <p:txBody>
          <a:bodyPr anchor="t" rtlCol="false" tIns="0" lIns="0" bIns="0" rIns="0">
            <a:spAutoFit/>
          </a:bodyPr>
          <a:lstStyle/>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This analysis covers 29 programming languages across salary, demand, popularity, specialization, and career opportunity.</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Python, JavaScript, and TypeScript are the languages with the highest demand scores (51.13, 33.62, and 32.34).</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Rust has the highest average salary (~$158K), against an overall average of ~$123K.</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Which languages offer the best balance of demand, pay, and opportunity for learners and employers?</a:t>
            </a:r>
          </a:p>
        </p:txBody>
      </p:sp>
      <p:sp>
        <p:nvSpPr>
          <p:cNvPr name="TextBox 22" id="22"/>
          <p:cNvSpPr txBox="true"/>
          <p:nvPr/>
        </p:nvSpPr>
        <p:spPr>
          <a:xfrm rot="0">
            <a:off x="1787517" y="6725223"/>
            <a:ext cx="6344480" cy="1974215"/>
          </a:xfrm>
          <a:prstGeom prst="rect">
            <a:avLst/>
          </a:prstGeom>
        </p:spPr>
        <p:txBody>
          <a:bodyPr anchor="t" rtlCol="false" tIns="0" lIns="0" bIns="0" rIns="0">
            <a:spAutoFit/>
          </a:bodyPr>
          <a:lstStyle/>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Python ranks #1 on both Tiobe and Pypl (average rank 1.00).</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Python, JavaScript, TypeScript, Java, and SQL make up the top 5 most popular languages on both ranking systems.</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Since 2020, TypeScript has risen while JavaScript has slipped.</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GitHub repository count moves closely with popularity rank, and the top languages have roughly 250K-300K+ repositories.</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Python is the only "High Opportunity" language, and JavaScript is "Established".</a:t>
            </a:r>
          </a:p>
          <a:p>
            <a:pPr algn="l">
              <a:lnSpc>
                <a:spcPts val="1960"/>
              </a:lnSpc>
            </a:pPr>
          </a:p>
        </p:txBody>
      </p:sp>
      <p:sp>
        <p:nvSpPr>
          <p:cNvPr name="TextBox 23" id="23"/>
          <p:cNvSpPr txBox="true"/>
          <p:nvPr/>
        </p:nvSpPr>
        <p:spPr>
          <a:xfrm rot="0">
            <a:off x="9637394" y="2821331"/>
            <a:ext cx="6522021" cy="323850"/>
          </a:xfrm>
          <a:prstGeom prst="rect">
            <a:avLst/>
          </a:prstGeom>
        </p:spPr>
        <p:txBody>
          <a:bodyPr anchor="t" rtlCol="false" tIns="0" lIns="0" bIns="0" rIns="0">
            <a:spAutoFit/>
          </a:bodyPr>
          <a:lstStyle/>
          <a:p>
            <a:pPr algn="l">
              <a:lnSpc>
                <a:spcPts val="2640"/>
              </a:lnSpc>
            </a:pPr>
            <a:r>
              <a:rPr lang="en-US" b="true" sz="2200" spc="-103">
                <a:solidFill>
                  <a:srgbClr val="FFFFFF"/>
                </a:solidFill>
                <a:latin typeface="Open Sauce Heavy"/>
                <a:ea typeface="Open Sauce Heavy"/>
                <a:cs typeface="Open Sauce Heavy"/>
                <a:sym typeface="Open Sauce Heavy"/>
              </a:rPr>
              <a:t>3. IMPACT ANALYSIS: SALARY &amp; SPECIALIZATION</a:t>
            </a:r>
          </a:p>
        </p:txBody>
      </p:sp>
      <p:sp>
        <p:nvSpPr>
          <p:cNvPr name="TextBox 24" id="24"/>
          <p:cNvSpPr txBox="true"/>
          <p:nvPr/>
        </p:nvSpPr>
        <p:spPr>
          <a:xfrm rot="0">
            <a:off x="9868089" y="6192670"/>
            <a:ext cx="6129122" cy="323850"/>
          </a:xfrm>
          <a:prstGeom prst="rect">
            <a:avLst/>
          </a:prstGeom>
        </p:spPr>
        <p:txBody>
          <a:bodyPr anchor="t" rtlCol="false" tIns="0" lIns="0" bIns="0" rIns="0">
            <a:spAutoFit/>
          </a:bodyPr>
          <a:lstStyle/>
          <a:p>
            <a:pPr algn="l">
              <a:lnSpc>
                <a:spcPts val="2640"/>
              </a:lnSpc>
            </a:pPr>
            <a:r>
              <a:rPr lang="en-US" b="true" sz="2200" spc="-103">
                <a:solidFill>
                  <a:srgbClr val="FFFFFF"/>
                </a:solidFill>
                <a:latin typeface="Open Sauce Heavy"/>
                <a:ea typeface="Open Sauce Heavy"/>
                <a:cs typeface="Open Sauce Heavy"/>
                <a:sym typeface="Open Sauce Heavy"/>
              </a:rPr>
              <a:t>4. INSIGHT AND RECOMMENDATION</a:t>
            </a:r>
          </a:p>
        </p:txBody>
      </p:sp>
      <p:sp>
        <p:nvSpPr>
          <p:cNvPr name="AutoShape 25" id="25"/>
          <p:cNvSpPr/>
          <p:nvPr/>
        </p:nvSpPr>
        <p:spPr>
          <a:xfrm>
            <a:off x="9868089" y="5730707"/>
            <a:ext cx="4574286" cy="0"/>
          </a:xfrm>
          <a:prstGeom prst="line">
            <a:avLst/>
          </a:prstGeom>
          <a:ln cap="flat" w="19050">
            <a:solidFill>
              <a:srgbClr val="D0D7DD"/>
            </a:solidFill>
            <a:prstDash val="solid"/>
            <a:headEnd type="none" len="sm" w="sm"/>
            <a:tailEnd type="none" len="sm" w="sm"/>
          </a:ln>
        </p:spPr>
      </p:sp>
      <p:sp>
        <p:nvSpPr>
          <p:cNvPr name="TextBox 26" id="26"/>
          <p:cNvSpPr txBox="true"/>
          <p:nvPr/>
        </p:nvSpPr>
        <p:spPr>
          <a:xfrm rot="0">
            <a:off x="9637394" y="3261192"/>
            <a:ext cx="6263658" cy="1726565"/>
          </a:xfrm>
          <a:prstGeom prst="rect">
            <a:avLst/>
          </a:prstGeom>
        </p:spPr>
        <p:txBody>
          <a:bodyPr anchor="t" rtlCol="false" tIns="0" lIns="0" bIns="0" rIns="0">
            <a:spAutoFit/>
          </a:bodyPr>
          <a:lstStyle/>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Rust, Go, Swift, Kotlin, and Scala are the highest-paying languages (~$141K-$158K).</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8 of the top 10 languages by demand are classified as "Emerging", including TypeScript, Rust, R, and Go.</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Python pays only mid-range (~$130K) despite having the highest demand.</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Overall, higher demand goes with higher salary, but learning difficulty has only a weak link to pay.</a:t>
            </a:r>
          </a:p>
        </p:txBody>
      </p:sp>
      <p:sp>
        <p:nvSpPr>
          <p:cNvPr name="TextBox 27" id="27"/>
          <p:cNvSpPr txBox="true"/>
          <p:nvPr/>
        </p:nvSpPr>
        <p:spPr>
          <a:xfrm rot="0">
            <a:off x="9726165" y="6545095"/>
            <a:ext cx="6344480" cy="2717165"/>
          </a:xfrm>
          <a:prstGeom prst="rect">
            <a:avLst/>
          </a:prstGeom>
        </p:spPr>
        <p:txBody>
          <a:bodyPr anchor="t" rtlCol="false" tIns="0" lIns="0" bIns="0" rIns="0">
            <a:spAutoFit/>
          </a:bodyPr>
          <a:lstStyle/>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Learners and job seekers: start with Python for the broadest demand, and pair it with TypeScript to cover web roles.</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Higher-pay seekers: target Rust, Go, Swift, or Kotlin, accepting a smaller, more specialized job market.</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Data and AI roles: use Python, R, or Julia, with Python having the strongest demand.</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Hiring managers: expect competition for Python and TypeScript talent, and scarcer, higher-paid Rust and Go talent.</a:t>
            </a:r>
          </a:p>
          <a:p>
            <a:pPr algn="l" marL="302261" indent="-151130" lvl="1">
              <a:lnSpc>
                <a:spcPts val="1960"/>
              </a:lnSpc>
              <a:buFont typeface="Arial"/>
              <a:buChar char="•"/>
            </a:pPr>
            <a:r>
              <a:rPr lang="en-US" sz="1400" spc="-65">
                <a:solidFill>
                  <a:srgbClr val="FFFFFF"/>
                </a:solidFill>
                <a:latin typeface="Open Sauce Light"/>
                <a:ea typeface="Open Sauce Light"/>
                <a:cs typeface="Open Sauce Light"/>
                <a:sym typeface="Open Sauce Light"/>
              </a:rPr>
              <a:t>Watch list: TypeScript (rising rank) and Rust (top salary, growing demand).</a:t>
            </a:r>
          </a:p>
          <a:p>
            <a:pPr algn="l">
              <a:lnSpc>
                <a:spcPts val="1960"/>
              </a:lnSpc>
            </a:pPr>
          </a:p>
          <a:p>
            <a:pPr algn="l">
              <a:lnSpc>
                <a:spcPts val="1960"/>
              </a:lnSpc>
            </a:pPr>
          </a:p>
        </p:txBody>
      </p:sp>
      <p:grpSp>
        <p:nvGrpSpPr>
          <p:cNvPr name="Group 28" id="28"/>
          <p:cNvGrpSpPr/>
          <p:nvPr/>
        </p:nvGrpSpPr>
        <p:grpSpPr>
          <a:xfrm rot="0">
            <a:off x="9674564" y="5537182"/>
            <a:ext cx="387050" cy="387050"/>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30" id="30"/>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grpSp>
        <p:nvGrpSpPr>
          <p:cNvPr name="Group 31" id="31"/>
          <p:cNvGrpSpPr/>
          <p:nvPr/>
        </p:nvGrpSpPr>
        <p:grpSpPr>
          <a:xfrm rot="0">
            <a:off x="14366914" y="5548445"/>
            <a:ext cx="387050" cy="387050"/>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A0CEFD">
                    <a:alpha val="100000"/>
                  </a:srgbClr>
                </a:gs>
                <a:gs pos="100000">
                  <a:srgbClr val="E4F2FF">
                    <a:alpha val="100000"/>
                  </a:srgbClr>
                </a:gs>
              </a:gsLst>
              <a:lin ang="0"/>
            </a:gradFill>
            <a:ln w="9525" cap="sq">
              <a:solidFill>
                <a:srgbClr val="FFFFFF"/>
              </a:solidFill>
              <a:prstDash val="solid"/>
              <a:miter/>
            </a:ln>
          </p:spPr>
        </p:sp>
        <p:sp>
          <p:nvSpPr>
            <p:cNvPr name="TextBox 33" id="33"/>
            <p:cNvSpPr txBox="true"/>
            <p:nvPr/>
          </p:nvSpPr>
          <p:spPr>
            <a:xfrm>
              <a:off x="76200" y="142875"/>
              <a:ext cx="660400" cy="593725"/>
            </a:xfrm>
            <a:prstGeom prst="rect">
              <a:avLst/>
            </a:prstGeom>
          </p:spPr>
          <p:txBody>
            <a:bodyPr anchor="ctr" rtlCol="false" tIns="50800" lIns="50800" bIns="50800" rIns="50800"/>
            <a:lstStyle/>
            <a:p>
              <a:pPr algn="ctr">
                <a:lnSpc>
                  <a:spcPts val="2350"/>
                </a:lnSpc>
              </a:pP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2109444" y="5046072"/>
            <a:ext cx="9290530" cy="6858100"/>
          </a:xfrm>
          <a:custGeom>
            <a:avLst/>
            <a:gdLst/>
            <a:ahLst/>
            <a:cxnLst/>
            <a:rect r="r" b="b" t="t" l="l"/>
            <a:pathLst>
              <a:path h="6858100" w="9290530">
                <a:moveTo>
                  <a:pt x="9290530" y="0"/>
                </a:moveTo>
                <a:lnTo>
                  <a:pt x="0" y="0"/>
                </a:lnTo>
                <a:lnTo>
                  <a:pt x="0" y="6858101"/>
                </a:lnTo>
                <a:lnTo>
                  <a:pt x="9290530" y="6858101"/>
                </a:lnTo>
                <a:lnTo>
                  <a:pt x="9290530" y="0"/>
                </a:lnTo>
                <a:close/>
              </a:path>
            </a:pathLst>
          </a:custGeom>
          <a:blipFill>
            <a:blip r:embed="rId2">
              <a:alphaModFix amt="24000"/>
            </a:blip>
            <a:stretch>
              <a:fillRect l="0" t="0" r="0" b="0"/>
            </a:stretch>
          </a:blipFill>
        </p:spPr>
      </p:sp>
      <p:sp>
        <p:nvSpPr>
          <p:cNvPr name="Freeform 3" id="3"/>
          <p:cNvSpPr/>
          <p:nvPr/>
        </p:nvSpPr>
        <p:spPr>
          <a:xfrm flipH="false" flipV="false" rot="0">
            <a:off x="1028700" y="734079"/>
            <a:ext cx="644940" cy="644940"/>
          </a:xfrm>
          <a:custGeom>
            <a:avLst/>
            <a:gdLst/>
            <a:ahLst/>
            <a:cxnLst/>
            <a:rect r="r" b="b" t="t" l="l"/>
            <a:pathLst>
              <a:path h="644940" w="644940">
                <a:moveTo>
                  <a:pt x="0" y="0"/>
                </a:moveTo>
                <a:lnTo>
                  <a:pt x="644940" y="0"/>
                </a:lnTo>
                <a:lnTo>
                  <a:pt x="644940"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710468" y="3629670"/>
            <a:ext cx="7688517" cy="4173208"/>
            <a:chOff x="0" y="0"/>
            <a:chExt cx="2024959" cy="1099116"/>
          </a:xfrm>
        </p:grpSpPr>
        <p:sp>
          <p:nvSpPr>
            <p:cNvPr name="Freeform 5" id="5"/>
            <p:cNvSpPr/>
            <p:nvPr/>
          </p:nvSpPr>
          <p:spPr>
            <a:xfrm flipH="false" flipV="false" rot="0">
              <a:off x="0" y="0"/>
              <a:ext cx="2024959" cy="1099116"/>
            </a:xfrm>
            <a:custGeom>
              <a:avLst/>
              <a:gdLst/>
              <a:ahLst/>
              <a:cxnLst/>
              <a:rect r="r" b="b" t="t" l="l"/>
              <a:pathLst>
                <a:path h="1099116" w="2024959">
                  <a:moveTo>
                    <a:pt x="93646" y="0"/>
                  </a:moveTo>
                  <a:lnTo>
                    <a:pt x="1931313" y="0"/>
                  </a:lnTo>
                  <a:cubicBezTo>
                    <a:pt x="1956150" y="0"/>
                    <a:pt x="1979969" y="9866"/>
                    <a:pt x="1997531" y="27428"/>
                  </a:cubicBezTo>
                  <a:cubicBezTo>
                    <a:pt x="2015093" y="44990"/>
                    <a:pt x="2024959" y="68810"/>
                    <a:pt x="2024959" y="93646"/>
                  </a:cubicBezTo>
                  <a:lnTo>
                    <a:pt x="2024959" y="1005471"/>
                  </a:lnTo>
                  <a:cubicBezTo>
                    <a:pt x="2024959" y="1030307"/>
                    <a:pt x="2015093" y="1054126"/>
                    <a:pt x="1997531" y="1071688"/>
                  </a:cubicBezTo>
                  <a:cubicBezTo>
                    <a:pt x="1979969" y="1089250"/>
                    <a:pt x="1956150" y="1099116"/>
                    <a:pt x="1931313" y="1099116"/>
                  </a:cubicBezTo>
                  <a:lnTo>
                    <a:pt x="93646" y="1099116"/>
                  </a:lnTo>
                  <a:cubicBezTo>
                    <a:pt x="68810" y="1099116"/>
                    <a:pt x="44990" y="1089250"/>
                    <a:pt x="27428" y="1071688"/>
                  </a:cubicBezTo>
                  <a:cubicBezTo>
                    <a:pt x="9866" y="1054126"/>
                    <a:pt x="0" y="1030307"/>
                    <a:pt x="0" y="1005471"/>
                  </a:cubicBezTo>
                  <a:lnTo>
                    <a:pt x="0" y="93646"/>
                  </a:lnTo>
                  <a:cubicBezTo>
                    <a:pt x="0" y="68810"/>
                    <a:pt x="9866" y="44990"/>
                    <a:pt x="27428" y="27428"/>
                  </a:cubicBezTo>
                  <a:cubicBezTo>
                    <a:pt x="44990" y="9866"/>
                    <a:pt x="68810" y="0"/>
                    <a:pt x="93646" y="0"/>
                  </a:cubicBezTo>
                  <a:close/>
                </a:path>
              </a:pathLst>
            </a:custGeom>
            <a:solidFill>
              <a:srgbClr val="D0D7DD"/>
            </a:solidFill>
            <a:ln w="19050" cap="rnd">
              <a:solidFill>
                <a:srgbClr val="424242"/>
              </a:solidFill>
              <a:prstDash val="solid"/>
              <a:round/>
            </a:ln>
          </p:spPr>
        </p:sp>
        <p:sp>
          <p:nvSpPr>
            <p:cNvPr name="TextBox 6" id="6"/>
            <p:cNvSpPr txBox="true"/>
            <p:nvPr/>
          </p:nvSpPr>
          <p:spPr>
            <a:xfrm>
              <a:off x="0" y="-28575"/>
              <a:ext cx="2024959" cy="1127691"/>
            </a:xfrm>
            <a:prstGeom prst="rect">
              <a:avLst/>
            </a:prstGeom>
          </p:spPr>
          <p:txBody>
            <a:bodyPr anchor="ctr" rtlCol="false" tIns="50800" lIns="50800" bIns="50800" rIns="50800"/>
            <a:lstStyle/>
            <a:p>
              <a:pPr algn="ctr">
                <a:lnSpc>
                  <a:spcPts val="2015"/>
                </a:lnSpc>
              </a:pPr>
            </a:p>
          </p:txBody>
        </p:sp>
      </p:grpSp>
      <p:sp>
        <p:nvSpPr>
          <p:cNvPr name="Freeform 7" id="7"/>
          <p:cNvSpPr/>
          <p:nvPr/>
        </p:nvSpPr>
        <p:spPr>
          <a:xfrm flipH="false" flipV="false" rot="0">
            <a:off x="10360908" y="4155636"/>
            <a:ext cx="956743" cy="928910"/>
          </a:xfrm>
          <a:custGeom>
            <a:avLst/>
            <a:gdLst/>
            <a:ahLst/>
            <a:cxnLst/>
            <a:rect r="r" b="b" t="t" l="l"/>
            <a:pathLst>
              <a:path h="928910" w="956743">
                <a:moveTo>
                  <a:pt x="0" y="0"/>
                </a:moveTo>
                <a:lnTo>
                  <a:pt x="956743" y="0"/>
                </a:lnTo>
                <a:lnTo>
                  <a:pt x="956743" y="928910"/>
                </a:lnTo>
                <a:lnTo>
                  <a:pt x="0" y="9289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736294" y="2368310"/>
            <a:ext cx="9218144" cy="6695927"/>
          </a:xfrm>
          <a:custGeom>
            <a:avLst/>
            <a:gdLst/>
            <a:ahLst/>
            <a:cxnLst/>
            <a:rect r="r" b="b" t="t" l="l"/>
            <a:pathLst>
              <a:path h="6695927" w="9218144">
                <a:moveTo>
                  <a:pt x="0" y="0"/>
                </a:moveTo>
                <a:lnTo>
                  <a:pt x="9218144" y="0"/>
                </a:lnTo>
                <a:lnTo>
                  <a:pt x="9218144" y="6695927"/>
                </a:lnTo>
                <a:lnTo>
                  <a:pt x="0" y="6695927"/>
                </a:lnTo>
                <a:lnTo>
                  <a:pt x="0" y="0"/>
                </a:lnTo>
                <a:close/>
              </a:path>
            </a:pathLst>
          </a:custGeom>
          <a:blipFill>
            <a:blip r:embed="rId7"/>
            <a:stretch>
              <a:fillRect l="-1364" t="-359" r="-1235" b="0"/>
            </a:stretch>
          </a:blipFill>
        </p:spPr>
      </p:sp>
      <p:sp>
        <p:nvSpPr>
          <p:cNvPr name="TextBox 9" id="9"/>
          <p:cNvSpPr txBox="true"/>
          <p:nvPr/>
        </p:nvSpPr>
        <p:spPr>
          <a:xfrm rot="0">
            <a:off x="1750661" y="736664"/>
            <a:ext cx="4633749" cy="587954"/>
          </a:xfrm>
          <a:prstGeom prst="rect">
            <a:avLst/>
          </a:prstGeom>
        </p:spPr>
        <p:txBody>
          <a:bodyPr anchor="t" rtlCol="false" tIns="0" lIns="0" bIns="0" rIns="0">
            <a:spAutoFit/>
          </a:bodyPr>
          <a:lstStyle/>
          <a:p>
            <a:pPr algn="l">
              <a:lnSpc>
                <a:spcPts val="4868"/>
              </a:lnSpc>
            </a:pPr>
            <a:r>
              <a:rPr lang="en-US" sz="3477" spc="-163" b="true">
                <a:solidFill>
                  <a:srgbClr val="424242"/>
                </a:solidFill>
                <a:latin typeface="Open Sauce Heavy"/>
                <a:ea typeface="Open Sauce Heavy"/>
                <a:cs typeface="Open Sauce Heavy"/>
                <a:sym typeface="Open Sauce Heavy"/>
              </a:rPr>
              <a:t>Salary</a:t>
            </a:r>
          </a:p>
        </p:txBody>
      </p:sp>
      <p:sp>
        <p:nvSpPr>
          <p:cNvPr name="TextBox 10" id="10"/>
          <p:cNvSpPr txBox="true"/>
          <p:nvPr/>
        </p:nvSpPr>
        <p:spPr>
          <a:xfrm rot="0">
            <a:off x="11557304" y="4268514"/>
            <a:ext cx="5015935" cy="752598"/>
          </a:xfrm>
          <a:prstGeom prst="rect">
            <a:avLst/>
          </a:prstGeom>
        </p:spPr>
        <p:txBody>
          <a:bodyPr anchor="t" rtlCol="false" tIns="0" lIns="0" bIns="0" rIns="0">
            <a:spAutoFit/>
          </a:bodyPr>
          <a:lstStyle/>
          <a:p>
            <a:pPr algn="l">
              <a:lnSpc>
                <a:spcPts val="3044"/>
              </a:lnSpc>
            </a:pPr>
            <a:r>
              <a:rPr lang="en-US" sz="2536" spc="-119" b="true">
                <a:solidFill>
                  <a:srgbClr val="424242"/>
                </a:solidFill>
                <a:latin typeface="Open Sauce Heavy"/>
                <a:ea typeface="Open Sauce Heavy"/>
                <a:cs typeface="Open Sauce Heavy"/>
                <a:sym typeface="Open Sauce Heavy"/>
              </a:rPr>
              <a:t>KEY TAKEAWAYS</a:t>
            </a:r>
          </a:p>
          <a:p>
            <a:pPr algn="l">
              <a:lnSpc>
                <a:spcPts val="3044"/>
              </a:lnSpc>
            </a:pPr>
          </a:p>
        </p:txBody>
      </p:sp>
      <p:sp>
        <p:nvSpPr>
          <p:cNvPr name="TextBox 11" id="11"/>
          <p:cNvSpPr txBox="true"/>
          <p:nvPr/>
        </p:nvSpPr>
        <p:spPr>
          <a:xfrm rot="0">
            <a:off x="10360908" y="5224570"/>
            <a:ext cx="6796689" cy="1878330"/>
          </a:xfrm>
          <a:prstGeom prst="rect">
            <a:avLst/>
          </a:prstGeom>
        </p:spPr>
        <p:txBody>
          <a:bodyPr anchor="t" rtlCol="false" tIns="0" lIns="0" bIns="0" rIns="0">
            <a:spAutoFit/>
          </a:bodyPr>
          <a:lstStyle/>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Rust pays the most at ~$158K, ~29% above the ~$123K average</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Go, Swift, Kotlin and Scala follow at ~$141K-$146K</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TypeScript (~$136K) is the best-paid of the top-3 demand languages</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Python sits at ~$130K: strong demand, mid-range pay</a:t>
            </a:r>
          </a:p>
          <a:p>
            <a:pPr algn="l">
              <a:lnSpc>
                <a:spcPts val="2519"/>
              </a:lnSpc>
            </a:pPr>
          </a:p>
        </p:txBody>
      </p:sp>
      <p:sp>
        <p:nvSpPr>
          <p:cNvPr name="TextBox 12" id="12"/>
          <p:cNvSpPr txBox="true"/>
          <p:nvPr/>
        </p:nvSpPr>
        <p:spPr>
          <a:xfrm rot="0">
            <a:off x="1103834" y="1388122"/>
            <a:ext cx="6477457" cy="341161"/>
          </a:xfrm>
          <a:prstGeom prst="rect">
            <a:avLst/>
          </a:prstGeom>
        </p:spPr>
        <p:txBody>
          <a:bodyPr anchor="t" rtlCol="false" tIns="0" lIns="0" bIns="0" rIns="0">
            <a:spAutoFit/>
          </a:bodyPr>
          <a:lstStyle/>
          <a:p>
            <a:pPr algn="just">
              <a:lnSpc>
                <a:spcPts val="2719"/>
              </a:lnSpc>
            </a:pPr>
            <a:r>
              <a:rPr lang="en-US" sz="1942">
                <a:solidFill>
                  <a:srgbClr val="424242"/>
                </a:solidFill>
                <a:latin typeface="Canva Sans"/>
                <a:ea typeface="Canva Sans"/>
                <a:cs typeface="Canva Sans"/>
                <a:sym typeface="Canva Sans"/>
              </a:rPr>
              <a:t>Top</a:t>
            </a:r>
            <a:r>
              <a:rPr lang="en-US" sz="1942">
                <a:solidFill>
                  <a:srgbClr val="424242"/>
                </a:solidFill>
                <a:latin typeface="Canva Sans"/>
                <a:ea typeface="Canva Sans"/>
                <a:cs typeface="Canva Sans"/>
                <a:sym typeface="Canva Sans"/>
              </a:rPr>
              <a:t> 10 highest-paying languages (average USD)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1813194" y="4906661"/>
            <a:ext cx="9290530" cy="6858100"/>
          </a:xfrm>
          <a:custGeom>
            <a:avLst/>
            <a:gdLst/>
            <a:ahLst/>
            <a:cxnLst/>
            <a:rect r="r" b="b" t="t" l="l"/>
            <a:pathLst>
              <a:path h="6858100" w="9290530">
                <a:moveTo>
                  <a:pt x="9290530" y="0"/>
                </a:moveTo>
                <a:lnTo>
                  <a:pt x="0" y="0"/>
                </a:lnTo>
                <a:lnTo>
                  <a:pt x="0" y="6858100"/>
                </a:lnTo>
                <a:lnTo>
                  <a:pt x="9290530" y="6858100"/>
                </a:lnTo>
                <a:lnTo>
                  <a:pt x="9290530" y="0"/>
                </a:lnTo>
                <a:close/>
              </a:path>
            </a:pathLst>
          </a:custGeom>
          <a:blipFill>
            <a:blip r:embed="rId2">
              <a:alphaModFix amt="24000"/>
            </a:blip>
            <a:stretch>
              <a:fillRect l="0" t="0" r="0" b="0"/>
            </a:stretch>
          </a:blipFill>
        </p:spPr>
      </p:sp>
      <p:sp>
        <p:nvSpPr>
          <p:cNvPr name="Freeform 3" id="3"/>
          <p:cNvSpPr/>
          <p:nvPr/>
        </p:nvSpPr>
        <p:spPr>
          <a:xfrm flipH="false" flipV="false" rot="0">
            <a:off x="1028700" y="734079"/>
            <a:ext cx="644940" cy="644940"/>
          </a:xfrm>
          <a:custGeom>
            <a:avLst/>
            <a:gdLst/>
            <a:ahLst/>
            <a:cxnLst/>
            <a:rect r="r" b="b" t="t" l="l"/>
            <a:pathLst>
              <a:path h="644940" w="644940">
                <a:moveTo>
                  <a:pt x="0" y="0"/>
                </a:moveTo>
                <a:lnTo>
                  <a:pt x="644940" y="0"/>
                </a:lnTo>
                <a:lnTo>
                  <a:pt x="644940"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308239" y="4124265"/>
            <a:ext cx="7688517" cy="4173208"/>
            <a:chOff x="0" y="0"/>
            <a:chExt cx="10251356" cy="5564277"/>
          </a:xfrm>
        </p:grpSpPr>
        <p:grpSp>
          <p:nvGrpSpPr>
            <p:cNvPr name="Group 5" id="5"/>
            <p:cNvGrpSpPr/>
            <p:nvPr/>
          </p:nvGrpSpPr>
          <p:grpSpPr>
            <a:xfrm rot="0">
              <a:off x="0" y="0"/>
              <a:ext cx="10251356" cy="5564277"/>
              <a:chOff x="0" y="0"/>
              <a:chExt cx="2024959" cy="1099116"/>
            </a:xfrm>
          </p:grpSpPr>
          <p:sp>
            <p:nvSpPr>
              <p:cNvPr name="Freeform 6" id="6"/>
              <p:cNvSpPr/>
              <p:nvPr/>
            </p:nvSpPr>
            <p:spPr>
              <a:xfrm flipH="false" flipV="false" rot="0">
                <a:off x="0" y="0"/>
                <a:ext cx="2024959" cy="1099116"/>
              </a:xfrm>
              <a:custGeom>
                <a:avLst/>
                <a:gdLst/>
                <a:ahLst/>
                <a:cxnLst/>
                <a:rect r="r" b="b" t="t" l="l"/>
                <a:pathLst>
                  <a:path h="1099116" w="2024959">
                    <a:moveTo>
                      <a:pt x="93646" y="0"/>
                    </a:moveTo>
                    <a:lnTo>
                      <a:pt x="1931313" y="0"/>
                    </a:lnTo>
                    <a:cubicBezTo>
                      <a:pt x="1956150" y="0"/>
                      <a:pt x="1979969" y="9866"/>
                      <a:pt x="1997531" y="27428"/>
                    </a:cubicBezTo>
                    <a:cubicBezTo>
                      <a:pt x="2015093" y="44990"/>
                      <a:pt x="2024959" y="68810"/>
                      <a:pt x="2024959" y="93646"/>
                    </a:cubicBezTo>
                    <a:lnTo>
                      <a:pt x="2024959" y="1005471"/>
                    </a:lnTo>
                    <a:cubicBezTo>
                      <a:pt x="2024959" y="1030307"/>
                      <a:pt x="2015093" y="1054126"/>
                      <a:pt x="1997531" y="1071688"/>
                    </a:cubicBezTo>
                    <a:cubicBezTo>
                      <a:pt x="1979969" y="1089250"/>
                      <a:pt x="1956150" y="1099116"/>
                      <a:pt x="1931313" y="1099116"/>
                    </a:cubicBezTo>
                    <a:lnTo>
                      <a:pt x="93646" y="1099116"/>
                    </a:lnTo>
                    <a:cubicBezTo>
                      <a:pt x="68810" y="1099116"/>
                      <a:pt x="44990" y="1089250"/>
                      <a:pt x="27428" y="1071688"/>
                    </a:cubicBezTo>
                    <a:cubicBezTo>
                      <a:pt x="9866" y="1054126"/>
                      <a:pt x="0" y="1030307"/>
                      <a:pt x="0" y="1005471"/>
                    </a:cubicBezTo>
                    <a:lnTo>
                      <a:pt x="0" y="93646"/>
                    </a:lnTo>
                    <a:cubicBezTo>
                      <a:pt x="0" y="68810"/>
                      <a:pt x="9866" y="44990"/>
                      <a:pt x="27428" y="27428"/>
                    </a:cubicBezTo>
                    <a:cubicBezTo>
                      <a:pt x="44990" y="9866"/>
                      <a:pt x="68810" y="0"/>
                      <a:pt x="93646" y="0"/>
                    </a:cubicBezTo>
                    <a:close/>
                  </a:path>
                </a:pathLst>
              </a:custGeom>
              <a:ln w="19050" cap="rnd">
                <a:solidFill>
                  <a:srgbClr val="424242"/>
                </a:solidFill>
                <a:prstDash val="solid"/>
                <a:round/>
              </a:ln>
            </p:spPr>
          </p:sp>
          <p:sp>
            <p:nvSpPr>
              <p:cNvPr name="TextBox 7" id="7"/>
              <p:cNvSpPr txBox="true"/>
              <p:nvPr/>
            </p:nvSpPr>
            <p:spPr>
              <a:xfrm>
                <a:off x="0" y="-28575"/>
                <a:ext cx="2024959" cy="1127691"/>
              </a:xfrm>
              <a:prstGeom prst="rect">
                <a:avLst/>
              </a:prstGeom>
            </p:spPr>
            <p:txBody>
              <a:bodyPr anchor="ctr" rtlCol="false" tIns="50800" lIns="50800" bIns="50800" rIns="50800"/>
              <a:lstStyle/>
              <a:p>
                <a:pPr algn="ctr">
                  <a:lnSpc>
                    <a:spcPts val="2015"/>
                  </a:lnSpc>
                </a:pPr>
              </a:p>
            </p:txBody>
          </p:sp>
        </p:grpSp>
        <p:sp>
          <p:nvSpPr>
            <p:cNvPr name="Freeform 8" id="8"/>
            <p:cNvSpPr/>
            <p:nvPr/>
          </p:nvSpPr>
          <p:spPr>
            <a:xfrm flipH="false" flipV="false" rot="0">
              <a:off x="867253" y="701287"/>
              <a:ext cx="1275657" cy="1238547"/>
            </a:xfrm>
            <a:custGeom>
              <a:avLst/>
              <a:gdLst/>
              <a:ahLst/>
              <a:cxnLst/>
              <a:rect r="r" b="b" t="t" l="l"/>
              <a:pathLst>
                <a:path h="1238547" w="1275657">
                  <a:moveTo>
                    <a:pt x="0" y="0"/>
                  </a:moveTo>
                  <a:lnTo>
                    <a:pt x="1275658" y="0"/>
                  </a:lnTo>
                  <a:lnTo>
                    <a:pt x="1275658" y="1238548"/>
                  </a:lnTo>
                  <a:lnTo>
                    <a:pt x="0" y="12385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462448" y="848617"/>
              <a:ext cx="6687913" cy="1006639"/>
            </a:xfrm>
            <a:prstGeom prst="rect">
              <a:avLst/>
            </a:prstGeom>
          </p:spPr>
          <p:txBody>
            <a:bodyPr anchor="t" rtlCol="false" tIns="0" lIns="0" bIns="0" rIns="0">
              <a:spAutoFit/>
            </a:bodyPr>
            <a:lstStyle/>
            <a:p>
              <a:pPr algn="l">
                <a:lnSpc>
                  <a:spcPts val="3044"/>
                </a:lnSpc>
              </a:pPr>
              <a:r>
                <a:rPr lang="en-US" sz="2536" spc="-119" b="true">
                  <a:solidFill>
                    <a:srgbClr val="424242"/>
                  </a:solidFill>
                  <a:latin typeface="Open Sauce Heavy"/>
                  <a:ea typeface="Open Sauce Heavy"/>
                  <a:cs typeface="Open Sauce Heavy"/>
                  <a:sym typeface="Open Sauce Heavy"/>
                </a:rPr>
                <a:t>KEY TAKEAWAYS</a:t>
              </a:r>
            </a:p>
            <a:p>
              <a:pPr algn="l">
                <a:lnSpc>
                  <a:spcPts val="3044"/>
                </a:lnSpc>
              </a:pPr>
            </a:p>
          </p:txBody>
        </p:sp>
        <p:sp>
          <p:nvSpPr>
            <p:cNvPr name="TextBox 10" id="10"/>
            <p:cNvSpPr txBox="true"/>
            <p:nvPr/>
          </p:nvSpPr>
          <p:spPr>
            <a:xfrm rot="0">
              <a:off x="867253" y="2139233"/>
              <a:ext cx="9062252" cy="2491740"/>
            </a:xfrm>
            <a:prstGeom prst="rect">
              <a:avLst/>
            </a:prstGeom>
          </p:spPr>
          <p:txBody>
            <a:bodyPr anchor="t" rtlCol="false" tIns="0" lIns="0" bIns="0" rIns="0">
              <a:spAutoFit/>
            </a:bodyPr>
            <a:lstStyle/>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Python leads with a score of 51.13, ~50% above JavaScript</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JavaScript and TypeScript form a clear second tier (~32-34)</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Rust, R, Go and Julia are close behind (28-31)</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Average demand across all languages is 22.69</a:t>
              </a:r>
            </a:p>
            <a:p>
              <a:pPr algn="l">
                <a:lnSpc>
                  <a:spcPts val="2519"/>
                </a:lnSpc>
              </a:pPr>
            </a:p>
            <a:p>
              <a:pPr algn="l">
                <a:lnSpc>
                  <a:spcPts val="2519"/>
                </a:lnSpc>
              </a:pPr>
            </a:p>
          </p:txBody>
        </p:sp>
      </p:grpSp>
      <p:sp>
        <p:nvSpPr>
          <p:cNvPr name="Freeform 11" id="11"/>
          <p:cNvSpPr/>
          <p:nvPr/>
        </p:nvSpPr>
        <p:spPr>
          <a:xfrm flipH="false" flipV="false" rot="0">
            <a:off x="1028700" y="2068071"/>
            <a:ext cx="10119582" cy="7190229"/>
          </a:xfrm>
          <a:custGeom>
            <a:avLst/>
            <a:gdLst/>
            <a:ahLst/>
            <a:cxnLst/>
            <a:rect r="r" b="b" t="t" l="l"/>
            <a:pathLst>
              <a:path h="7190229" w="10119582">
                <a:moveTo>
                  <a:pt x="0" y="0"/>
                </a:moveTo>
                <a:lnTo>
                  <a:pt x="10119582" y="0"/>
                </a:lnTo>
                <a:lnTo>
                  <a:pt x="10119582" y="7190229"/>
                </a:lnTo>
                <a:lnTo>
                  <a:pt x="0" y="7190229"/>
                </a:lnTo>
                <a:lnTo>
                  <a:pt x="0" y="0"/>
                </a:lnTo>
                <a:close/>
              </a:path>
            </a:pathLst>
          </a:custGeom>
          <a:blipFill>
            <a:blip r:embed="rId7"/>
            <a:stretch>
              <a:fillRect l="0" t="0" r="0" b="0"/>
            </a:stretch>
          </a:blipFill>
        </p:spPr>
      </p:sp>
      <p:sp>
        <p:nvSpPr>
          <p:cNvPr name="TextBox 12" id="12"/>
          <p:cNvSpPr txBox="true"/>
          <p:nvPr/>
        </p:nvSpPr>
        <p:spPr>
          <a:xfrm rot="0">
            <a:off x="1750661" y="736664"/>
            <a:ext cx="4633749" cy="1197554"/>
          </a:xfrm>
          <a:prstGeom prst="rect">
            <a:avLst/>
          </a:prstGeom>
        </p:spPr>
        <p:txBody>
          <a:bodyPr anchor="t" rtlCol="false" tIns="0" lIns="0" bIns="0" rIns="0">
            <a:spAutoFit/>
          </a:bodyPr>
          <a:lstStyle/>
          <a:p>
            <a:pPr algn="l">
              <a:lnSpc>
                <a:spcPts val="4868"/>
              </a:lnSpc>
            </a:pPr>
            <a:r>
              <a:rPr lang="en-US" sz="3477" spc="-163" b="true">
                <a:solidFill>
                  <a:srgbClr val="424242"/>
                </a:solidFill>
                <a:latin typeface="Open Sauce Heavy"/>
                <a:ea typeface="Open Sauce Heavy"/>
                <a:cs typeface="Open Sauce Heavy"/>
                <a:sym typeface="Open Sauce Heavy"/>
              </a:rPr>
              <a:t>DEMAND</a:t>
            </a:r>
          </a:p>
          <a:p>
            <a:pPr algn="l">
              <a:lnSpc>
                <a:spcPts val="4868"/>
              </a:lnSpc>
            </a:pPr>
          </a:p>
        </p:txBody>
      </p:sp>
      <p:sp>
        <p:nvSpPr>
          <p:cNvPr name="TextBox 13" id="13"/>
          <p:cNvSpPr txBox="true"/>
          <p:nvPr/>
        </p:nvSpPr>
        <p:spPr>
          <a:xfrm rot="0">
            <a:off x="1103834" y="1388122"/>
            <a:ext cx="6930545" cy="684042"/>
          </a:xfrm>
          <a:prstGeom prst="rect">
            <a:avLst/>
          </a:prstGeom>
        </p:spPr>
        <p:txBody>
          <a:bodyPr anchor="t" rtlCol="false" tIns="0" lIns="0" bIns="0" rIns="0">
            <a:spAutoFit/>
          </a:bodyPr>
          <a:lstStyle/>
          <a:p>
            <a:pPr algn="just">
              <a:lnSpc>
                <a:spcPts val="2719"/>
              </a:lnSpc>
            </a:pPr>
            <a:r>
              <a:rPr lang="en-US" sz="1942">
                <a:solidFill>
                  <a:srgbClr val="424242"/>
                </a:solidFill>
                <a:latin typeface="Canva Sans"/>
                <a:ea typeface="Canva Sans"/>
                <a:cs typeface="Canva Sans"/>
                <a:sym typeface="Canva Sans"/>
              </a:rPr>
              <a:t>Top</a:t>
            </a:r>
            <a:r>
              <a:rPr lang="en-US" sz="1942">
                <a:solidFill>
                  <a:srgbClr val="424242"/>
                </a:solidFill>
                <a:latin typeface="Canva Sans"/>
                <a:ea typeface="Canva Sans"/>
                <a:cs typeface="Canva Sans"/>
                <a:sym typeface="Canva Sans"/>
              </a:rPr>
              <a:t> 10 languages by demand score</a:t>
            </a:r>
          </a:p>
          <a:p>
            <a:pPr algn="just">
              <a:lnSpc>
                <a:spcPts val="2719"/>
              </a:lnSpc>
            </a:pPr>
          </a:p>
        </p:txBody>
      </p:sp>
      <p:sp>
        <p:nvSpPr>
          <p:cNvPr name="Freeform 14" id="14"/>
          <p:cNvSpPr/>
          <p:nvPr/>
        </p:nvSpPr>
        <p:spPr>
          <a:xfrm flipH="true" flipV="false" rot="2700000">
            <a:off x="11422053" y="-3679487"/>
            <a:ext cx="9290530" cy="6858100"/>
          </a:xfrm>
          <a:custGeom>
            <a:avLst/>
            <a:gdLst/>
            <a:ahLst/>
            <a:cxnLst/>
            <a:rect r="r" b="b" t="t" l="l"/>
            <a:pathLst>
              <a:path h="6858100" w="9290530">
                <a:moveTo>
                  <a:pt x="9290530" y="0"/>
                </a:moveTo>
                <a:lnTo>
                  <a:pt x="0" y="0"/>
                </a:lnTo>
                <a:lnTo>
                  <a:pt x="0" y="6858100"/>
                </a:lnTo>
                <a:lnTo>
                  <a:pt x="9290530" y="6858100"/>
                </a:lnTo>
                <a:lnTo>
                  <a:pt x="9290530" y="0"/>
                </a:lnTo>
                <a:close/>
              </a:path>
            </a:pathLst>
          </a:custGeom>
          <a:blipFill>
            <a:blip r:embed="rId2">
              <a:alphaModFix amt="24000"/>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11866591" y="4352517"/>
            <a:ext cx="9290530" cy="6858100"/>
          </a:xfrm>
          <a:custGeom>
            <a:avLst/>
            <a:gdLst/>
            <a:ahLst/>
            <a:cxnLst/>
            <a:rect r="r" b="b" t="t" l="l"/>
            <a:pathLst>
              <a:path h="6858100" w="9290530">
                <a:moveTo>
                  <a:pt x="9290531" y="0"/>
                </a:moveTo>
                <a:lnTo>
                  <a:pt x="0" y="0"/>
                </a:lnTo>
                <a:lnTo>
                  <a:pt x="0" y="6858100"/>
                </a:lnTo>
                <a:lnTo>
                  <a:pt x="9290531" y="6858100"/>
                </a:lnTo>
                <a:lnTo>
                  <a:pt x="9290531" y="0"/>
                </a:lnTo>
                <a:close/>
              </a:path>
            </a:pathLst>
          </a:custGeom>
          <a:blipFill>
            <a:blip r:embed="rId2">
              <a:alphaModFix amt="24000"/>
            </a:blip>
            <a:stretch>
              <a:fillRect l="0" t="0" r="0" b="0"/>
            </a:stretch>
          </a:blipFill>
        </p:spPr>
      </p:sp>
      <p:sp>
        <p:nvSpPr>
          <p:cNvPr name="Freeform 3" id="3"/>
          <p:cNvSpPr/>
          <p:nvPr/>
        </p:nvSpPr>
        <p:spPr>
          <a:xfrm flipH="false" flipV="false" rot="0">
            <a:off x="1028700" y="734079"/>
            <a:ext cx="644940" cy="644940"/>
          </a:xfrm>
          <a:custGeom>
            <a:avLst/>
            <a:gdLst/>
            <a:ahLst/>
            <a:cxnLst/>
            <a:rect r="r" b="b" t="t" l="l"/>
            <a:pathLst>
              <a:path h="644940" w="644940">
                <a:moveTo>
                  <a:pt x="0" y="0"/>
                </a:moveTo>
                <a:lnTo>
                  <a:pt x="644940" y="0"/>
                </a:lnTo>
                <a:lnTo>
                  <a:pt x="644940"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465077" y="2765720"/>
            <a:ext cx="7688517" cy="4487533"/>
            <a:chOff x="0" y="0"/>
            <a:chExt cx="10251356" cy="5983377"/>
          </a:xfrm>
        </p:grpSpPr>
        <p:grpSp>
          <p:nvGrpSpPr>
            <p:cNvPr name="Group 5" id="5"/>
            <p:cNvGrpSpPr/>
            <p:nvPr/>
          </p:nvGrpSpPr>
          <p:grpSpPr>
            <a:xfrm rot="0">
              <a:off x="0" y="0"/>
              <a:ext cx="10251356" cy="5983377"/>
              <a:chOff x="0" y="0"/>
              <a:chExt cx="2024959" cy="1181902"/>
            </a:xfrm>
          </p:grpSpPr>
          <p:sp>
            <p:nvSpPr>
              <p:cNvPr name="Freeform 6" id="6"/>
              <p:cNvSpPr/>
              <p:nvPr/>
            </p:nvSpPr>
            <p:spPr>
              <a:xfrm flipH="false" flipV="false" rot="0">
                <a:off x="0" y="0"/>
                <a:ext cx="2024959" cy="1181902"/>
              </a:xfrm>
              <a:custGeom>
                <a:avLst/>
                <a:gdLst/>
                <a:ahLst/>
                <a:cxnLst/>
                <a:rect r="r" b="b" t="t" l="l"/>
                <a:pathLst>
                  <a:path h="1181902" w="2024959">
                    <a:moveTo>
                      <a:pt x="93646" y="0"/>
                    </a:moveTo>
                    <a:lnTo>
                      <a:pt x="1931313" y="0"/>
                    </a:lnTo>
                    <a:cubicBezTo>
                      <a:pt x="1956150" y="0"/>
                      <a:pt x="1979969" y="9866"/>
                      <a:pt x="1997531" y="27428"/>
                    </a:cubicBezTo>
                    <a:cubicBezTo>
                      <a:pt x="2015093" y="44990"/>
                      <a:pt x="2024959" y="68810"/>
                      <a:pt x="2024959" y="93646"/>
                    </a:cubicBezTo>
                    <a:lnTo>
                      <a:pt x="2024959" y="1088256"/>
                    </a:lnTo>
                    <a:cubicBezTo>
                      <a:pt x="2024959" y="1113092"/>
                      <a:pt x="2015093" y="1136911"/>
                      <a:pt x="1997531" y="1154473"/>
                    </a:cubicBezTo>
                    <a:cubicBezTo>
                      <a:pt x="1979969" y="1172035"/>
                      <a:pt x="1956150" y="1181902"/>
                      <a:pt x="1931313" y="1181902"/>
                    </a:cubicBezTo>
                    <a:lnTo>
                      <a:pt x="93646" y="1181902"/>
                    </a:lnTo>
                    <a:cubicBezTo>
                      <a:pt x="68810" y="1181902"/>
                      <a:pt x="44990" y="1172035"/>
                      <a:pt x="27428" y="1154473"/>
                    </a:cubicBezTo>
                    <a:cubicBezTo>
                      <a:pt x="9866" y="1136911"/>
                      <a:pt x="0" y="1113092"/>
                      <a:pt x="0" y="1088256"/>
                    </a:cubicBezTo>
                    <a:lnTo>
                      <a:pt x="0" y="93646"/>
                    </a:lnTo>
                    <a:cubicBezTo>
                      <a:pt x="0" y="68810"/>
                      <a:pt x="9866" y="44990"/>
                      <a:pt x="27428" y="27428"/>
                    </a:cubicBezTo>
                    <a:cubicBezTo>
                      <a:pt x="44990" y="9866"/>
                      <a:pt x="68810" y="0"/>
                      <a:pt x="93646" y="0"/>
                    </a:cubicBezTo>
                    <a:close/>
                  </a:path>
                </a:pathLst>
              </a:custGeom>
              <a:ln w="19050" cap="rnd">
                <a:solidFill>
                  <a:srgbClr val="424242"/>
                </a:solidFill>
                <a:prstDash val="solid"/>
                <a:round/>
              </a:ln>
            </p:spPr>
          </p:sp>
          <p:sp>
            <p:nvSpPr>
              <p:cNvPr name="TextBox 7" id="7"/>
              <p:cNvSpPr txBox="true"/>
              <p:nvPr/>
            </p:nvSpPr>
            <p:spPr>
              <a:xfrm>
                <a:off x="0" y="-28575"/>
                <a:ext cx="2024959" cy="1210477"/>
              </a:xfrm>
              <a:prstGeom prst="rect">
                <a:avLst/>
              </a:prstGeom>
            </p:spPr>
            <p:txBody>
              <a:bodyPr anchor="ctr" rtlCol="false" tIns="50800" lIns="50800" bIns="50800" rIns="50800"/>
              <a:lstStyle/>
              <a:p>
                <a:pPr algn="ctr">
                  <a:lnSpc>
                    <a:spcPts val="2015"/>
                  </a:lnSpc>
                </a:pPr>
              </a:p>
            </p:txBody>
          </p:sp>
        </p:grpSp>
        <p:sp>
          <p:nvSpPr>
            <p:cNvPr name="Freeform 8" id="8"/>
            <p:cNvSpPr/>
            <p:nvPr/>
          </p:nvSpPr>
          <p:spPr>
            <a:xfrm flipH="false" flipV="false" rot="0">
              <a:off x="867253" y="701287"/>
              <a:ext cx="1275657" cy="1238547"/>
            </a:xfrm>
            <a:custGeom>
              <a:avLst/>
              <a:gdLst/>
              <a:ahLst/>
              <a:cxnLst/>
              <a:rect r="r" b="b" t="t" l="l"/>
              <a:pathLst>
                <a:path h="1238547" w="1275657">
                  <a:moveTo>
                    <a:pt x="0" y="0"/>
                  </a:moveTo>
                  <a:lnTo>
                    <a:pt x="1275658" y="0"/>
                  </a:lnTo>
                  <a:lnTo>
                    <a:pt x="1275658" y="1238548"/>
                  </a:lnTo>
                  <a:lnTo>
                    <a:pt x="0" y="12385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462448" y="848617"/>
              <a:ext cx="6687913" cy="1006639"/>
            </a:xfrm>
            <a:prstGeom prst="rect">
              <a:avLst/>
            </a:prstGeom>
          </p:spPr>
          <p:txBody>
            <a:bodyPr anchor="t" rtlCol="false" tIns="0" lIns="0" bIns="0" rIns="0">
              <a:spAutoFit/>
            </a:bodyPr>
            <a:lstStyle/>
            <a:p>
              <a:pPr algn="l">
                <a:lnSpc>
                  <a:spcPts val="3044"/>
                </a:lnSpc>
              </a:pPr>
              <a:r>
                <a:rPr lang="en-US" sz="2536" spc="-119" b="true">
                  <a:solidFill>
                    <a:srgbClr val="424242"/>
                  </a:solidFill>
                  <a:latin typeface="Open Sauce Heavy"/>
                  <a:ea typeface="Open Sauce Heavy"/>
                  <a:cs typeface="Open Sauce Heavy"/>
                  <a:sym typeface="Open Sauce Heavy"/>
                </a:rPr>
                <a:t>KEY TAKEAWAYS</a:t>
              </a:r>
            </a:p>
            <a:p>
              <a:pPr algn="l">
                <a:lnSpc>
                  <a:spcPts val="3044"/>
                </a:lnSpc>
              </a:pPr>
            </a:p>
          </p:txBody>
        </p:sp>
        <p:sp>
          <p:nvSpPr>
            <p:cNvPr name="TextBox 10" id="10"/>
            <p:cNvSpPr txBox="true"/>
            <p:nvPr/>
          </p:nvSpPr>
          <p:spPr>
            <a:xfrm rot="0">
              <a:off x="727842" y="2139233"/>
              <a:ext cx="9085487" cy="2910840"/>
            </a:xfrm>
            <a:prstGeom prst="rect">
              <a:avLst/>
            </a:prstGeom>
          </p:spPr>
          <p:txBody>
            <a:bodyPr anchor="t" rtlCol="false" tIns="0" lIns="0" bIns="0" rIns="0">
              <a:spAutoFit/>
            </a:bodyPr>
            <a:lstStyle/>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Python is #1 on both Tiobe and Pypl</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Python, JavaScript, TypeScript, Java, SQL hold the top 5 on both lists</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Since 2020, TypeScript has risen while JavaScript has slipped</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GitHub repositories rise with popularity: top languages reach 250K-300K+</a:t>
              </a:r>
            </a:p>
            <a:p>
              <a:pPr algn="l">
                <a:lnSpc>
                  <a:spcPts val="2519"/>
                </a:lnSpc>
              </a:pPr>
            </a:p>
          </p:txBody>
        </p:sp>
      </p:grpSp>
      <p:sp>
        <p:nvSpPr>
          <p:cNvPr name="Freeform 11" id="11"/>
          <p:cNvSpPr/>
          <p:nvPr/>
        </p:nvSpPr>
        <p:spPr>
          <a:xfrm flipH="false" flipV="false" rot="0">
            <a:off x="1028700" y="2126100"/>
            <a:ext cx="10037911" cy="7132200"/>
          </a:xfrm>
          <a:custGeom>
            <a:avLst/>
            <a:gdLst/>
            <a:ahLst/>
            <a:cxnLst/>
            <a:rect r="r" b="b" t="t" l="l"/>
            <a:pathLst>
              <a:path h="7132200" w="10037911">
                <a:moveTo>
                  <a:pt x="0" y="0"/>
                </a:moveTo>
                <a:lnTo>
                  <a:pt x="10037911" y="0"/>
                </a:lnTo>
                <a:lnTo>
                  <a:pt x="10037911" y="7132200"/>
                </a:lnTo>
                <a:lnTo>
                  <a:pt x="0" y="7132200"/>
                </a:lnTo>
                <a:lnTo>
                  <a:pt x="0" y="0"/>
                </a:lnTo>
                <a:close/>
              </a:path>
            </a:pathLst>
          </a:custGeom>
          <a:blipFill>
            <a:blip r:embed="rId7"/>
            <a:stretch>
              <a:fillRect l="0" t="0" r="0" b="0"/>
            </a:stretch>
          </a:blipFill>
        </p:spPr>
      </p:sp>
      <p:sp>
        <p:nvSpPr>
          <p:cNvPr name="TextBox 12" id="12"/>
          <p:cNvSpPr txBox="true"/>
          <p:nvPr/>
        </p:nvSpPr>
        <p:spPr>
          <a:xfrm rot="0">
            <a:off x="1750661" y="736664"/>
            <a:ext cx="10506472" cy="1197554"/>
          </a:xfrm>
          <a:prstGeom prst="rect">
            <a:avLst/>
          </a:prstGeom>
        </p:spPr>
        <p:txBody>
          <a:bodyPr anchor="t" rtlCol="false" tIns="0" lIns="0" bIns="0" rIns="0">
            <a:spAutoFit/>
          </a:bodyPr>
          <a:lstStyle/>
          <a:p>
            <a:pPr algn="l">
              <a:lnSpc>
                <a:spcPts val="4868"/>
              </a:lnSpc>
            </a:pPr>
            <a:r>
              <a:rPr lang="en-US" b="true" sz="3477" spc="-163">
                <a:solidFill>
                  <a:srgbClr val="424242"/>
                </a:solidFill>
                <a:latin typeface="Open Sauce Heavy"/>
                <a:ea typeface="Open Sauce Heavy"/>
                <a:cs typeface="Open Sauce Heavy"/>
                <a:sym typeface="Open Sauce Heavy"/>
              </a:rPr>
              <a:t>MARKET &amp; POPULARITY</a:t>
            </a:r>
          </a:p>
          <a:p>
            <a:pPr algn="l">
              <a:lnSpc>
                <a:spcPts val="4868"/>
              </a:lnSpc>
            </a:pPr>
          </a:p>
        </p:txBody>
      </p:sp>
      <p:sp>
        <p:nvSpPr>
          <p:cNvPr name="TextBox 13" id="13"/>
          <p:cNvSpPr txBox="true"/>
          <p:nvPr/>
        </p:nvSpPr>
        <p:spPr>
          <a:xfrm rot="0">
            <a:off x="1103834" y="1388122"/>
            <a:ext cx="9527090" cy="684042"/>
          </a:xfrm>
          <a:prstGeom prst="rect">
            <a:avLst/>
          </a:prstGeom>
        </p:spPr>
        <p:txBody>
          <a:bodyPr anchor="t" rtlCol="false" tIns="0" lIns="0" bIns="0" rIns="0">
            <a:spAutoFit/>
          </a:bodyPr>
          <a:lstStyle/>
          <a:p>
            <a:pPr algn="just">
              <a:lnSpc>
                <a:spcPts val="2719"/>
              </a:lnSpc>
            </a:pPr>
            <a:r>
              <a:rPr lang="en-US" sz="1942">
                <a:solidFill>
                  <a:srgbClr val="424242"/>
                </a:solidFill>
                <a:latin typeface="Canva Sans"/>
                <a:ea typeface="Canva Sans"/>
                <a:cs typeface="Canva Sans"/>
                <a:sym typeface="Canva Sans"/>
              </a:rPr>
              <a:t>Combined Tiobe &amp; Pypl</a:t>
            </a:r>
            <a:r>
              <a:rPr lang="en-US" sz="1942">
                <a:solidFill>
                  <a:srgbClr val="424242"/>
                </a:solidFill>
                <a:latin typeface="Canva Sans"/>
                <a:ea typeface="Canva Sans"/>
                <a:cs typeface="Canva Sans"/>
                <a:sym typeface="Canva Sans"/>
              </a:rPr>
              <a:t> average rank (lower = more popular)</a:t>
            </a:r>
          </a:p>
          <a:p>
            <a:pPr algn="just">
              <a:lnSpc>
                <a:spcPts val="2719"/>
              </a:lnSpc>
            </a:pPr>
          </a:p>
        </p:txBody>
      </p:sp>
      <p:sp>
        <p:nvSpPr>
          <p:cNvPr name="Freeform 14" id="14"/>
          <p:cNvSpPr/>
          <p:nvPr/>
        </p:nvSpPr>
        <p:spPr>
          <a:xfrm flipH="true" flipV="false" rot="2700000">
            <a:off x="-3560280" y="5581855"/>
            <a:ext cx="9290530" cy="6858100"/>
          </a:xfrm>
          <a:custGeom>
            <a:avLst/>
            <a:gdLst/>
            <a:ahLst/>
            <a:cxnLst/>
            <a:rect r="r" b="b" t="t" l="l"/>
            <a:pathLst>
              <a:path h="6858100" w="9290530">
                <a:moveTo>
                  <a:pt x="9290530" y="0"/>
                </a:moveTo>
                <a:lnTo>
                  <a:pt x="0" y="0"/>
                </a:lnTo>
                <a:lnTo>
                  <a:pt x="0" y="6858100"/>
                </a:lnTo>
                <a:lnTo>
                  <a:pt x="9290530" y="6858100"/>
                </a:lnTo>
                <a:lnTo>
                  <a:pt x="9290530" y="0"/>
                </a:lnTo>
                <a:close/>
              </a:path>
            </a:pathLst>
          </a:custGeom>
          <a:blipFill>
            <a:blip r:embed="rId2">
              <a:alphaModFix amt="24000"/>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2109444" y="5046072"/>
            <a:ext cx="9290530" cy="6858100"/>
          </a:xfrm>
          <a:custGeom>
            <a:avLst/>
            <a:gdLst/>
            <a:ahLst/>
            <a:cxnLst/>
            <a:rect r="r" b="b" t="t" l="l"/>
            <a:pathLst>
              <a:path h="6858100" w="9290530">
                <a:moveTo>
                  <a:pt x="9290530" y="0"/>
                </a:moveTo>
                <a:lnTo>
                  <a:pt x="0" y="0"/>
                </a:lnTo>
                <a:lnTo>
                  <a:pt x="0" y="6858101"/>
                </a:lnTo>
                <a:lnTo>
                  <a:pt x="9290530" y="6858101"/>
                </a:lnTo>
                <a:lnTo>
                  <a:pt x="9290530" y="0"/>
                </a:lnTo>
                <a:close/>
              </a:path>
            </a:pathLst>
          </a:custGeom>
          <a:blipFill>
            <a:blip r:embed="rId2">
              <a:alphaModFix amt="24000"/>
            </a:blip>
            <a:stretch>
              <a:fillRect l="0" t="0" r="0" b="0"/>
            </a:stretch>
          </a:blipFill>
        </p:spPr>
      </p:sp>
      <p:sp>
        <p:nvSpPr>
          <p:cNvPr name="Freeform 3" id="3"/>
          <p:cNvSpPr/>
          <p:nvPr/>
        </p:nvSpPr>
        <p:spPr>
          <a:xfrm flipH="false" flipV="false" rot="0">
            <a:off x="1028700" y="734079"/>
            <a:ext cx="644940" cy="644940"/>
          </a:xfrm>
          <a:custGeom>
            <a:avLst/>
            <a:gdLst/>
            <a:ahLst/>
            <a:cxnLst/>
            <a:rect r="r" b="b" t="t" l="l"/>
            <a:pathLst>
              <a:path h="644940" w="644940">
                <a:moveTo>
                  <a:pt x="0" y="0"/>
                </a:moveTo>
                <a:lnTo>
                  <a:pt x="644940" y="0"/>
                </a:lnTo>
                <a:lnTo>
                  <a:pt x="644940"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1244263" y="2227516"/>
            <a:ext cx="6862771" cy="6247607"/>
            <a:chOff x="0" y="0"/>
            <a:chExt cx="9150361" cy="8330143"/>
          </a:xfrm>
        </p:grpSpPr>
        <p:grpSp>
          <p:nvGrpSpPr>
            <p:cNvPr name="Group 5" id="5"/>
            <p:cNvGrpSpPr/>
            <p:nvPr/>
          </p:nvGrpSpPr>
          <p:grpSpPr>
            <a:xfrm rot="0">
              <a:off x="0" y="0"/>
              <a:ext cx="8113708" cy="8330143"/>
              <a:chOff x="0" y="0"/>
              <a:chExt cx="1602708" cy="1645460"/>
            </a:xfrm>
          </p:grpSpPr>
          <p:sp>
            <p:nvSpPr>
              <p:cNvPr name="Freeform 6" id="6"/>
              <p:cNvSpPr/>
              <p:nvPr/>
            </p:nvSpPr>
            <p:spPr>
              <a:xfrm flipH="false" flipV="false" rot="0">
                <a:off x="0" y="0"/>
                <a:ext cx="1602708" cy="1645460"/>
              </a:xfrm>
              <a:custGeom>
                <a:avLst/>
                <a:gdLst/>
                <a:ahLst/>
                <a:cxnLst/>
                <a:rect r="r" b="b" t="t" l="l"/>
                <a:pathLst>
                  <a:path h="1645460" w="1602708">
                    <a:moveTo>
                      <a:pt x="118318" y="0"/>
                    </a:moveTo>
                    <a:lnTo>
                      <a:pt x="1484390" y="0"/>
                    </a:lnTo>
                    <a:cubicBezTo>
                      <a:pt x="1549735" y="0"/>
                      <a:pt x="1602708" y="52973"/>
                      <a:pt x="1602708" y="118318"/>
                    </a:cubicBezTo>
                    <a:lnTo>
                      <a:pt x="1602708" y="1527142"/>
                    </a:lnTo>
                    <a:cubicBezTo>
                      <a:pt x="1602708" y="1558522"/>
                      <a:pt x="1590242" y="1588617"/>
                      <a:pt x="1568053" y="1610806"/>
                    </a:cubicBezTo>
                    <a:cubicBezTo>
                      <a:pt x="1545864" y="1632995"/>
                      <a:pt x="1515770" y="1645460"/>
                      <a:pt x="1484390" y="1645460"/>
                    </a:cubicBezTo>
                    <a:lnTo>
                      <a:pt x="118318" y="1645460"/>
                    </a:lnTo>
                    <a:cubicBezTo>
                      <a:pt x="52973" y="1645460"/>
                      <a:pt x="0" y="1592487"/>
                      <a:pt x="0" y="1527142"/>
                    </a:cubicBezTo>
                    <a:lnTo>
                      <a:pt x="0" y="118318"/>
                    </a:lnTo>
                    <a:cubicBezTo>
                      <a:pt x="0" y="52973"/>
                      <a:pt x="52973" y="0"/>
                      <a:pt x="118318" y="0"/>
                    </a:cubicBezTo>
                    <a:close/>
                  </a:path>
                </a:pathLst>
              </a:custGeom>
              <a:ln w="19050" cap="rnd">
                <a:solidFill>
                  <a:srgbClr val="424242"/>
                </a:solidFill>
                <a:prstDash val="solid"/>
                <a:round/>
              </a:ln>
            </p:spPr>
          </p:sp>
          <p:sp>
            <p:nvSpPr>
              <p:cNvPr name="TextBox 7" id="7"/>
              <p:cNvSpPr txBox="true"/>
              <p:nvPr/>
            </p:nvSpPr>
            <p:spPr>
              <a:xfrm>
                <a:off x="0" y="-28575"/>
                <a:ext cx="1602708" cy="1674035"/>
              </a:xfrm>
              <a:prstGeom prst="rect">
                <a:avLst/>
              </a:prstGeom>
            </p:spPr>
            <p:txBody>
              <a:bodyPr anchor="ctr" rtlCol="false" tIns="50800" lIns="50800" bIns="50800" rIns="50800"/>
              <a:lstStyle/>
              <a:p>
                <a:pPr algn="ctr">
                  <a:lnSpc>
                    <a:spcPts val="2015"/>
                  </a:lnSpc>
                </a:pPr>
              </a:p>
            </p:txBody>
          </p:sp>
        </p:grpSp>
        <p:sp>
          <p:nvSpPr>
            <p:cNvPr name="Freeform 8" id="8"/>
            <p:cNvSpPr/>
            <p:nvPr/>
          </p:nvSpPr>
          <p:spPr>
            <a:xfrm flipH="false" flipV="false" rot="0">
              <a:off x="867253" y="701287"/>
              <a:ext cx="1275657" cy="1238547"/>
            </a:xfrm>
            <a:custGeom>
              <a:avLst/>
              <a:gdLst/>
              <a:ahLst/>
              <a:cxnLst/>
              <a:rect r="r" b="b" t="t" l="l"/>
              <a:pathLst>
                <a:path h="1238547" w="1275657">
                  <a:moveTo>
                    <a:pt x="0" y="0"/>
                  </a:moveTo>
                  <a:lnTo>
                    <a:pt x="1275658" y="0"/>
                  </a:lnTo>
                  <a:lnTo>
                    <a:pt x="1275658" y="1238548"/>
                  </a:lnTo>
                  <a:lnTo>
                    <a:pt x="0" y="12385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462448" y="848617"/>
              <a:ext cx="6687913" cy="1006639"/>
            </a:xfrm>
            <a:prstGeom prst="rect">
              <a:avLst/>
            </a:prstGeom>
          </p:spPr>
          <p:txBody>
            <a:bodyPr anchor="t" rtlCol="false" tIns="0" lIns="0" bIns="0" rIns="0">
              <a:spAutoFit/>
            </a:bodyPr>
            <a:lstStyle/>
            <a:p>
              <a:pPr algn="l">
                <a:lnSpc>
                  <a:spcPts val="3044"/>
                </a:lnSpc>
              </a:pPr>
              <a:r>
                <a:rPr lang="en-US" sz="2536" spc="-119" b="true">
                  <a:solidFill>
                    <a:srgbClr val="424242"/>
                  </a:solidFill>
                  <a:latin typeface="Open Sauce Heavy"/>
                  <a:ea typeface="Open Sauce Heavy"/>
                  <a:cs typeface="Open Sauce Heavy"/>
                  <a:sym typeface="Open Sauce Heavy"/>
                </a:rPr>
                <a:t>KEY TAKEAWAYS</a:t>
              </a:r>
            </a:p>
            <a:p>
              <a:pPr algn="l">
                <a:lnSpc>
                  <a:spcPts val="3044"/>
                </a:lnSpc>
              </a:pPr>
            </a:p>
          </p:txBody>
        </p:sp>
        <p:sp>
          <p:nvSpPr>
            <p:cNvPr name="TextBox 10" id="10"/>
            <p:cNvSpPr txBox="true"/>
            <p:nvPr/>
          </p:nvSpPr>
          <p:spPr>
            <a:xfrm rot="0">
              <a:off x="727842" y="2139233"/>
              <a:ext cx="6854898" cy="3329940"/>
            </a:xfrm>
            <a:prstGeom prst="rect">
              <a:avLst/>
            </a:prstGeom>
          </p:spPr>
          <p:txBody>
            <a:bodyPr anchor="t" rtlCol="false" tIns="0" lIns="0" bIns="0" rIns="0">
              <a:spAutoFit/>
            </a:bodyPr>
            <a:lstStyle/>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Python is the only "High Opportunity" language and the top opportunity pick</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JavaScript is "Established": high demand, mature market</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8 of the top 10 are "Emerging"</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Demand and salary rise together; learning difficulty barely affects pay</a:t>
              </a:r>
            </a:p>
            <a:p>
              <a:pPr algn="l">
                <a:lnSpc>
                  <a:spcPts val="2519"/>
                </a:lnSpc>
              </a:pPr>
            </a:p>
          </p:txBody>
        </p:sp>
      </p:grpSp>
      <p:graphicFrame>
        <p:nvGraphicFramePr>
          <p:cNvPr name="Object 11" id="11"/>
          <p:cNvGraphicFramePr/>
          <p:nvPr/>
        </p:nvGraphicFramePr>
        <p:xfrm>
          <a:off x="828418" y="2129314"/>
          <a:ext cx="15030450" cy="6940296"/>
        </p:xfrm>
        <a:graphic>
          <a:graphicData uri="http://schemas.openxmlformats.org/presentationml/2006/ole">
            <p:oleObj imgW="18034000" imgH="99441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12" id="12"/>
          <p:cNvSpPr txBox="true"/>
          <p:nvPr/>
        </p:nvSpPr>
        <p:spPr>
          <a:xfrm rot="0">
            <a:off x="1750661" y="736664"/>
            <a:ext cx="10506472" cy="1197554"/>
          </a:xfrm>
          <a:prstGeom prst="rect">
            <a:avLst/>
          </a:prstGeom>
        </p:spPr>
        <p:txBody>
          <a:bodyPr anchor="t" rtlCol="false" tIns="0" lIns="0" bIns="0" rIns="0">
            <a:spAutoFit/>
          </a:bodyPr>
          <a:lstStyle/>
          <a:p>
            <a:pPr algn="l">
              <a:lnSpc>
                <a:spcPts val="4868"/>
              </a:lnSpc>
            </a:pPr>
            <a:r>
              <a:rPr lang="en-US" b="true" sz="3477" spc="-163">
                <a:solidFill>
                  <a:srgbClr val="424242"/>
                </a:solidFill>
                <a:latin typeface="Open Sauce Heavy"/>
                <a:ea typeface="Open Sauce Heavy"/>
                <a:cs typeface="Open Sauce Heavy"/>
                <a:sym typeface="Open Sauce Heavy"/>
              </a:rPr>
              <a:t>MARKET &amp; POPULARITY</a:t>
            </a:r>
          </a:p>
          <a:p>
            <a:pPr algn="l">
              <a:lnSpc>
                <a:spcPts val="4868"/>
              </a:lnSpc>
            </a:pPr>
          </a:p>
        </p:txBody>
      </p:sp>
      <p:sp>
        <p:nvSpPr>
          <p:cNvPr name="TextBox 13" id="13"/>
          <p:cNvSpPr txBox="true"/>
          <p:nvPr/>
        </p:nvSpPr>
        <p:spPr>
          <a:xfrm rot="0">
            <a:off x="1103834" y="1388122"/>
            <a:ext cx="9527090" cy="684042"/>
          </a:xfrm>
          <a:prstGeom prst="rect">
            <a:avLst/>
          </a:prstGeom>
        </p:spPr>
        <p:txBody>
          <a:bodyPr anchor="t" rtlCol="false" tIns="0" lIns="0" bIns="0" rIns="0">
            <a:spAutoFit/>
          </a:bodyPr>
          <a:lstStyle/>
          <a:p>
            <a:pPr algn="just">
              <a:lnSpc>
                <a:spcPts val="2719"/>
              </a:lnSpc>
            </a:pPr>
            <a:r>
              <a:rPr lang="en-US" sz="1942">
                <a:solidFill>
                  <a:srgbClr val="424242"/>
                </a:solidFill>
                <a:latin typeface="Canva Sans"/>
                <a:ea typeface="Canva Sans"/>
                <a:cs typeface="Canva Sans"/>
                <a:sym typeface="Canva Sans"/>
              </a:rPr>
              <a:t>Combined Tiobe &amp; Pypl</a:t>
            </a:r>
            <a:r>
              <a:rPr lang="en-US" sz="1942">
                <a:solidFill>
                  <a:srgbClr val="424242"/>
                </a:solidFill>
                <a:latin typeface="Canva Sans"/>
                <a:ea typeface="Canva Sans"/>
                <a:cs typeface="Canva Sans"/>
                <a:sym typeface="Canva Sans"/>
              </a:rPr>
              <a:t> average rank (lower = more popular)</a:t>
            </a:r>
          </a:p>
          <a:p>
            <a:pPr algn="just">
              <a:lnSpc>
                <a:spcPts val="271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2109444" y="5046072"/>
            <a:ext cx="9290530" cy="6858100"/>
          </a:xfrm>
          <a:custGeom>
            <a:avLst/>
            <a:gdLst/>
            <a:ahLst/>
            <a:cxnLst/>
            <a:rect r="r" b="b" t="t" l="l"/>
            <a:pathLst>
              <a:path h="6858100" w="9290530">
                <a:moveTo>
                  <a:pt x="9290530" y="0"/>
                </a:moveTo>
                <a:lnTo>
                  <a:pt x="0" y="0"/>
                </a:lnTo>
                <a:lnTo>
                  <a:pt x="0" y="6858101"/>
                </a:lnTo>
                <a:lnTo>
                  <a:pt x="9290530" y="6858101"/>
                </a:lnTo>
                <a:lnTo>
                  <a:pt x="9290530" y="0"/>
                </a:lnTo>
                <a:close/>
              </a:path>
            </a:pathLst>
          </a:custGeom>
          <a:blipFill>
            <a:blip r:embed="rId2">
              <a:alphaModFix amt="24000"/>
            </a:blip>
            <a:stretch>
              <a:fillRect l="0" t="0" r="0" b="0"/>
            </a:stretch>
          </a:blipFill>
        </p:spPr>
      </p:sp>
      <p:sp>
        <p:nvSpPr>
          <p:cNvPr name="Freeform 3" id="3"/>
          <p:cNvSpPr/>
          <p:nvPr/>
        </p:nvSpPr>
        <p:spPr>
          <a:xfrm flipH="false" flipV="false" rot="0">
            <a:off x="1028700" y="734079"/>
            <a:ext cx="644940" cy="644940"/>
          </a:xfrm>
          <a:custGeom>
            <a:avLst/>
            <a:gdLst/>
            <a:ahLst/>
            <a:cxnLst/>
            <a:rect r="r" b="b" t="t" l="l"/>
            <a:pathLst>
              <a:path h="644940" w="644940">
                <a:moveTo>
                  <a:pt x="0" y="0"/>
                </a:moveTo>
                <a:lnTo>
                  <a:pt x="644940" y="0"/>
                </a:lnTo>
                <a:lnTo>
                  <a:pt x="644940"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570783" y="4630353"/>
            <a:ext cx="7688517" cy="4173208"/>
            <a:chOff x="0" y="0"/>
            <a:chExt cx="10251356" cy="5564277"/>
          </a:xfrm>
        </p:grpSpPr>
        <p:grpSp>
          <p:nvGrpSpPr>
            <p:cNvPr name="Group 5" id="5"/>
            <p:cNvGrpSpPr/>
            <p:nvPr/>
          </p:nvGrpSpPr>
          <p:grpSpPr>
            <a:xfrm rot="0">
              <a:off x="0" y="0"/>
              <a:ext cx="10251356" cy="5564277"/>
              <a:chOff x="0" y="0"/>
              <a:chExt cx="2024959" cy="1099116"/>
            </a:xfrm>
          </p:grpSpPr>
          <p:sp>
            <p:nvSpPr>
              <p:cNvPr name="Freeform 6" id="6"/>
              <p:cNvSpPr/>
              <p:nvPr/>
            </p:nvSpPr>
            <p:spPr>
              <a:xfrm flipH="false" flipV="false" rot="0">
                <a:off x="0" y="0"/>
                <a:ext cx="2024959" cy="1099116"/>
              </a:xfrm>
              <a:custGeom>
                <a:avLst/>
                <a:gdLst/>
                <a:ahLst/>
                <a:cxnLst/>
                <a:rect r="r" b="b" t="t" l="l"/>
                <a:pathLst>
                  <a:path h="1099116" w="2024959">
                    <a:moveTo>
                      <a:pt x="93646" y="0"/>
                    </a:moveTo>
                    <a:lnTo>
                      <a:pt x="1931313" y="0"/>
                    </a:lnTo>
                    <a:cubicBezTo>
                      <a:pt x="1956150" y="0"/>
                      <a:pt x="1979969" y="9866"/>
                      <a:pt x="1997531" y="27428"/>
                    </a:cubicBezTo>
                    <a:cubicBezTo>
                      <a:pt x="2015093" y="44990"/>
                      <a:pt x="2024959" y="68810"/>
                      <a:pt x="2024959" y="93646"/>
                    </a:cubicBezTo>
                    <a:lnTo>
                      <a:pt x="2024959" y="1005471"/>
                    </a:lnTo>
                    <a:cubicBezTo>
                      <a:pt x="2024959" y="1030307"/>
                      <a:pt x="2015093" y="1054126"/>
                      <a:pt x="1997531" y="1071688"/>
                    </a:cubicBezTo>
                    <a:cubicBezTo>
                      <a:pt x="1979969" y="1089250"/>
                      <a:pt x="1956150" y="1099116"/>
                      <a:pt x="1931313" y="1099116"/>
                    </a:cubicBezTo>
                    <a:lnTo>
                      <a:pt x="93646" y="1099116"/>
                    </a:lnTo>
                    <a:cubicBezTo>
                      <a:pt x="68810" y="1099116"/>
                      <a:pt x="44990" y="1089250"/>
                      <a:pt x="27428" y="1071688"/>
                    </a:cubicBezTo>
                    <a:cubicBezTo>
                      <a:pt x="9866" y="1054126"/>
                      <a:pt x="0" y="1030307"/>
                      <a:pt x="0" y="1005471"/>
                    </a:cubicBezTo>
                    <a:lnTo>
                      <a:pt x="0" y="93646"/>
                    </a:lnTo>
                    <a:cubicBezTo>
                      <a:pt x="0" y="68810"/>
                      <a:pt x="9866" y="44990"/>
                      <a:pt x="27428" y="27428"/>
                    </a:cubicBezTo>
                    <a:cubicBezTo>
                      <a:pt x="44990" y="9866"/>
                      <a:pt x="68810" y="0"/>
                      <a:pt x="93646" y="0"/>
                    </a:cubicBezTo>
                    <a:close/>
                  </a:path>
                </a:pathLst>
              </a:custGeom>
              <a:ln w="19050" cap="rnd">
                <a:solidFill>
                  <a:srgbClr val="424242"/>
                </a:solidFill>
                <a:prstDash val="solid"/>
                <a:round/>
              </a:ln>
            </p:spPr>
          </p:sp>
          <p:sp>
            <p:nvSpPr>
              <p:cNvPr name="TextBox 7" id="7"/>
              <p:cNvSpPr txBox="true"/>
              <p:nvPr/>
            </p:nvSpPr>
            <p:spPr>
              <a:xfrm>
                <a:off x="0" y="-28575"/>
                <a:ext cx="2024959" cy="1127691"/>
              </a:xfrm>
              <a:prstGeom prst="rect">
                <a:avLst/>
              </a:prstGeom>
            </p:spPr>
            <p:txBody>
              <a:bodyPr anchor="ctr" rtlCol="false" tIns="50800" lIns="50800" bIns="50800" rIns="50800"/>
              <a:lstStyle/>
              <a:p>
                <a:pPr algn="ctr">
                  <a:lnSpc>
                    <a:spcPts val="2015"/>
                  </a:lnSpc>
                </a:pPr>
              </a:p>
            </p:txBody>
          </p:sp>
        </p:grpSp>
        <p:sp>
          <p:nvSpPr>
            <p:cNvPr name="Freeform 8" id="8"/>
            <p:cNvSpPr/>
            <p:nvPr/>
          </p:nvSpPr>
          <p:spPr>
            <a:xfrm flipH="false" flipV="false" rot="0">
              <a:off x="867253" y="701287"/>
              <a:ext cx="1275657" cy="1238547"/>
            </a:xfrm>
            <a:custGeom>
              <a:avLst/>
              <a:gdLst/>
              <a:ahLst/>
              <a:cxnLst/>
              <a:rect r="r" b="b" t="t" l="l"/>
              <a:pathLst>
                <a:path h="1238547" w="1275657">
                  <a:moveTo>
                    <a:pt x="0" y="0"/>
                  </a:moveTo>
                  <a:lnTo>
                    <a:pt x="1275658" y="0"/>
                  </a:lnTo>
                  <a:lnTo>
                    <a:pt x="1275658" y="1238548"/>
                  </a:lnTo>
                  <a:lnTo>
                    <a:pt x="0" y="12385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462448" y="848617"/>
              <a:ext cx="6687913" cy="1006639"/>
            </a:xfrm>
            <a:prstGeom prst="rect">
              <a:avLst/>
            </a:prstGeom>
          </p:spPr>
          <p:txBody>
            <a:bodyPr anchor="t" rtlCol="false" tIns="0" lIns="0" bIns="0" rIns="0">
              <a:spAutoFit/>
            </a:bodyPr>
            <a:lstStyle/>
            <a:p>
              <a:pPr algn="l">
                <a:lnSpc>
                  <a:spcPts val="3044"/>
                </a:lnSpc>
              </a:pPr>
              <a:r>
                <a:rPr lang="en-US" sz="2536" spc="-119" b="true">
                  <a:solidFill>
                    <a:srgbClr val="424242"/>
                  </a:solidFill>
                  <a:latin typeface="Open Sauce Heavy"/>
                  <a:ea typeface="Open Sauce Heavy"/>
                  <a:cs typeface="Open Sauce Heavy"/>
                  <a:sym typeface="Open Sauce Heavy"/>
                </a:rPr>
                <a:t>KEY TAKEAWAYS</a:t>
              </a:r>
            </a:p>
            <a:p>
              <a:pPr algn="l">
                <a:lnSpc>
                  <a:spcPts val="3044"/>
                </a:lnSpc>
              </a:pPr>
            </a:p>
          </p:txBody>
        </p:sp>
        <p:sp>
          <p:nvSpPr>
            <p:cNvPr name="TextBox 10" id="10"/>
            <p:cNvSpPr txBox="true"/>
            <p:nvPr/>
          </p:nvSpPr>
          <p:spPr>
            <a:xfrm rot="0">
              <a:off x="727842" y="2139233"/>
              <a:ext cx="9085487" cy="2491740"/>
            </a:xfrm>
            <a:prstGeom prst="rect">
              <a:avLst/>
            </a:prstGeom>
          </p:spPr>
          <p:txBody>
            <a:bodyPr anchor="t" rtlCol="false" tIns="0" lIns="0" bIns="0" rIns="0">
              <a:spAutoFit/>
            </a:bodyPr>
            <a:lstStyle/>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R scores 89.2 in data science and 58.6 in AI</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Web, game, embedded and mobile all score below 6</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R is a niche, analytics-focused language</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Specialization is a key factor when choosing a language by career goal</a:t>
              </a:r>
            </a:p>
            <a:p>
              <a:pPr algn="l">
                <a:lnSpc>
                  <a:spcPts val="2519"/>
                </a:lnSpc>
              </a:pPr>
            </a:p>
          </p:txBody>
        </p:sp>
      </p:grpSp>
      <p:sp>
        <p:nvSpPr>
          <p:cNvPr name="Freeform 11" id="11"/>
          <p:cNvSpPr/>
          <p:nvPr/>
        </p:nvSpPr>
        <p:spPr>
          <a:xfrm flipH="false" flipV="false" rot="0">
            <a:off x="911697" y="2360937"/>
            <a:ext cx="9598969" cy="6897363"/>
          </a:xfrm>
          <a:custGeom>
            <a:avLst/>
            <a:gdLst/>
            <a:ahLst/>
            <a:cxnLst/>
            <a:rect r="r" b="b" t="t" l="l"/>
            <a:pathLst>
              <a:path h="6897363" w="9598969">
                <a:moveTo>
                  <a:pt x="0" y="0"/>
                </a:moveTo>
                <a:lnTo>
                  <a:pt x="9598969" y="0"/>
                </a:lnTo>
                <a:lnTo>
                  <a:pt x="9598969" y="6897363"/>
                </a:lnTo>
                <a:lnTo>
                  <a:pt x="0" y="6897363"/>
                </a:lnTo>
                <a:lnTo>
                  <a:pt x="0" y="0"/>
                </a:lnTo>
                <a:close/>
              </a:path>
            </a:pathLst>
          </a:custGeom>
          <a:blipFill>
            <a:blip r:embed="rId7"/>
            <a:stretch>
              <a:fillRect l="0" t="-263" r="-1662" b="-263"/>
            </a:stretch>
          </a:blipFill>
        </p:spPr>
      </p:sp>
      <p:sp>
        <p:nvSpPr>
          <p:cNvPr name="TextBox 12" id="12"/>
          <p:cNvSpPr txBox="true"/>
          <p:nvPr/>
        </p:nvSpPr>
        <p:spPr>
          <a:xfrm rot="0">
            <a:off x="1750661" y="736664"/>
            <a:ext cx="10506472" cy="1197554"/>
          </a:xfrm>
          <a:prstGeom prst="rect">
            <a:avLst/>
          </a:prstGeom>
        </p:spPr>
        <p:txBody>
          <a:bodyPr anchor="t" rtlCol="false" tIns="0" lIns="0" bIns="0" rIns="0">
            <a:spAutoFit/>
          </a:bodyPr>
          <a:lstStyle/>
          <a:p>
            <a:pPr algn="l">
              <a:lnSpc>
                <a:spcPts val="4868"/>
              </a:lnSpc>
            </a:pPr>
            <a:r>
              <a:rPr lang="en-US" b="true" sz="3477" spc="-163">
                <a:solidFill>
                  <a:srgbClr val="424242"/>
                </a:solidFill>
                <a:latin typeface="Open Sauce Heavy"/>
                <a:ea typeface="Open Sauce Heavy"/>
                <a:cs typeface="Open Sauce Heavy"/>
                <a:sym typeface="Open Sauce Heavy"/>
              </a:rPr>
              <a:t>TECHNOLOGY LANDSCAPE</a:t>
            </a:r>
          </a:p>
          <a:p>
            <a:pPr algn="l">
              <a:lnSpc>
                <a:spcPts val="4868"/>
              </a:lnSpc>
            </a:pPr>
          </a:p>
        </p:txBody>
      </p:sp>
      <p:sp>
        <p:nvSpPr>
          <p:cNvPr name="TextBox 13" id="13"/>
          <p:cNvSpPr txBox="true"/>
          <p:nvPr/>
        </p:nvSpPr>
        <p:spPr>
          <a:xfrm rot="0">
            <a:off x="1103834" y="1388122"/>
            <a:ext cx="9527090" cy="684042"/>
          </a:xfrm>
          <a:prstGeom prst="rect">
            <a:avLst/>
          </a:prstGeom>
        </p:spPr>
        <p:txBody>
          <a:bodyPr anchor="t" rtlCol="false" tIns="0" lIns="0" bIns="0" rIns="0">
            <a:spAutoFit/>
          </a:bodyPr>
          <a:lstStyle/>
          <a:p>
            <a:pPr algn="just">
              <a:lnSpc>
                <a:spcPts val="2719"/>
              </a:lnSpc>
            </a:pPr>
            <a:r>
              <a:rPr lang="en-US" sz="1942">
                <a:solidFill>
                  <a:srgbClr val="424242"/>
                </a:solidFill>
                <a:latin typeface="Canva Sans"/>
                <a:ea typeface="Canva Sans"/>
                <a:cs typeface="Canva Sans"/>
                <a:sym typeface="Canva Sans"/>
              </a:rPr>
              <a:t>Speci</a:t>
            </a:r>
            <a:r>
              <a:rPr lang="en-US" sz="1942">
                <a:solidFill>
                  <a:srgbClr val="424242"/>
                </a:solidFill>
                <a:latin typeface="Canva Sans"/>
                <a:ea typeface="Canva Sans"/>
                <a:cs typeface="Canva Sans"/>
                <a:sym typeface="Canva Sans"/>
              </a:rPr>
              <a:t>alization scores, example: R</a:t>
            </a:r>
          </a:p>
          <a:p>
            <a:pPr algn="just">
              <a:lnSpc>
                <a:spcPts val="271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true" flipV="false" rot="2700000">
            <a:off x="11953724" y="-1494831"/>
            <a:ext cx="9290530" cy="6858100"/>
          </a:xfrm>
          <a:custGeom>
            <a:avLst/>
            <a:gdLst/>
            <a:ahLst/>
            <a:cxnLst/>
            <a:rect r="r" b="b" t="t" l="l"/>
            <a:pathLst>
              <a:path h="6858100" w="9290530">
                <a:moveTo>
                  <a:pt x="9290530" y="0"/>
                </a:moveTo>
                <a:lnTo>
                  <a:pt x="0" y="0"/>
                </a:lnTo>
                <a:lnTo>
                  <a:pt x="0" y="6858100"/>
                </a:lnTo>
                <a:lnTo>
                  <a:pt x="9290530" y="6858100"/>
                </a:lnTo>
                <a:lnTo>
                  <a:pt x="9290530" y="0"/>
                </a:lnTo>
                <a:close/>
              </a:path>
            </a:pathLst>
          </a:custGeom>
          <a:blipFill>
            <a:blip r:embed="rId2">
              <a:alphaModFix amt="24000"/>
            </a:blip>
            <a:stretch>
              <a:fillRect l="0" t="0" r="0" b="0"/>
            </a:stretch>
          </a:blipFill>
        </p:spPr>
      </p:sp>
      <p:sp>
        <p:nvSpPr>
          <p:cNvPr name="Freeform 3" id="3"/>
          <p:cNvSpPr/>
          <p:nvPr/>
        </p:nvSpPr>
        <p:spPr>
          <a:xfrm flipH="false" flipV="false" rot="0">
            <a:off x="1028700" y="734079"/>
            <a:ext cx="644940" cy="644940"/>
          </a:xfrm>
          <a:custGeom>
            <a:avLst/>
            <a:gdLst/>
            <a:ahLst/>
            <a:cxnLst/>
            <a:rect r="r" b="b" t="t" l="l"/>
            <a:pathLst>
              <a:path h="644940" w="644940">
                <a:moveTo>
                  <a:pt x="0" y="0"/>
                </a:moveTo>
                <a:lnTo>
                  <a:pt x="644940" y="0"/>
                </a:lnTo>
                <a:lnTo>
                  <a:pt x="644940" y="644940"/>
                </a:lnTo>
                <a:lnTo>
                  <a:pt x="0" y="64494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9570783" y="4630353"/>
            <a:ext cx="7688517" cy="4173208"/>
            <a:chOff x="0" y="0"/>
            <a:chExt cx="10251356" cy="5564277"/>
          </a:xfrm>
        </p:grpSpPr>
        <p:grpSp>
          <p:nvGrpSpPr>
            <p:cNvPr name="Group 5" id="5"/>
            <p:cNvGrpSpPr/>
            <p:nvPr/>
          </p:nvGrpSpPr>
          <p:grpSpPr>
            <a:xfrm rot="0">
              <a:off x="0" y="0"/>
              <a:ext cx="10251356" cy="5564277"/>
              <a:chOff x="0" y="0"/>
              <a:chExt cx="2024959" cy="1099116"/>
            </a:xfrm>
          </p:grpSpPr>
          <p:sp>
            <p:nvSpPr>
              <p:cNvPr name="Freeform 6" id="6"/>
              <p:cNvSpPr/>
              <p:nvPr/>
            </p:nvSpPr>
            <p:spPr>
              <a:xfrm flipH="false" flipV="false" rot="0">
                <a:off x="0" y="0"/>
                <a:ext cx="2024959" cy="1099116"/>
              </a:xfrm>
              <a:custGeom>
                <a:avLst/>
                <a:gdLst/>
                <a:ahLst/>
                <a:cxnLst/>
                <a:rect r="r" b="b" t="t" l="l"/>
                <a:pathLst>
                  <a:path h="1099116" w="2024959">
                    <a:moveTo>
                      <a:pt x="93646" y="0"/>
                    </a:moveTo>
                    <a:lnTo>
                      <a:pt x="1931313" y="0"/>
                    </a:lnTo>
                    <a:cubicBezTo>
                      <a:pt x="1956150" y="0"/>
                      <a:pt x="1979969" y="9866"/>
                      <a:pt x="1997531" y="27428"/>
                    </a:cubicBezTo>
                    <a:cubicBezTo>
                      <a:pt x="2015093" y="44990"/>
                      <a:pt x="2024959" y="68810"/>
                      <a:pt x="2024959" y="93646"/>
                    </a:cubicBezTo>
                    <a:lnTo>
                      <a:pt x="2024959" y="1005471"/>
                    </a:lnTo>
                    <a:cubicBezTo>
                      <a:pt x="2024959" y="1030307"/>
                      <a:pt x="2015093" y="1054126"/>
                      <a:pt x="1997531" y="1071688"/>
                    </a:cubicBezTo>
                    <a:cubicBezTo>
                      <a:pt x="1979969" y="1089250"/>
                      <a:pt x="1956150" y="1099116"/>
                      <a:pt x="1931313" y="1099116"/>
                    </a:cubicBezTo>
                    <a:lnTo>
                      <a:pt x="93646" y="1099116"/>
                    </a:lnTo>
                    <a:cubicBezTo>
                      <a:pt x="68810" y="1099116"/>
                      <a:pt x="44990" y="1089250"/>
                      <a:pt x="27428" y="1071688"/>
                    </a:cubicBezTo>
                    <a:cubicBezTo>
                      <a:pt x="9866" y="1054126"/>
                      <a:pt x="0" y="1030307"/>
                      <a:pt x="0" y="1005471"/>
                    </a:cubicBezTo>
                    <a:lnTo>
                      <a:pt x="0" y="93646"/>
                    </a:lnTo>
                    <a:cubicBezTo>
                      <a:pt x="0" y="68810"/>
                      <a:pt x="9866" y="44990"/>
                      <a:pt x="27428" y="27428"/>
                    </a:cubicBezTo>
                    <a:cubicBezTo>
                      <a:pt x="44990" y="9866"/>
                      <a:pt x="68810" y="0"/>
                      <a:pt x="93646" y="0"/>
                    </a:cubicBezTo>
                    <a:close/>
                  </a:path>
                </a:pathLst>
              </a:custGeom>
              <a:ln w="19050" cap="rnd">
                <a:solidFill>
                  <a:srgbClr val="424242"/>
                </a:solidFill>
                <a:prstDash val="solid"/>
                <a:round/>
              </a:ln>
            </p:spPr>
          </p:sp>
          <p:sp>
            <p:nvSpPr>
              <p:cNvPr name="TextBox 7" id="7"/>
              <p:cNvSpPr txBox="true"/>
              <p:nvPr/>
            </p:nvSpPr>
            <p:spPr>
              <a:xfrm>
                <a:off x="0" y="-28575"/>
                <a:ext cx="2024959" cy="1127691"/>
              </a:xfrm>
              <a:prstGeom prst="rect">
                <a:avLst/>
              </a:prstGeom>
            </p:spPr>
            <p:txBody>
              <a:bodyPr anchor="ctr" rtlCol="false" tIns="50800" lIns="50800" bIns="50800" rIns="50800"/>
              <a:lstStyle/>
              <a:p>
                <a:pPr algn="ctr">
                  <a:lnSpc>
                    <a:spcPts val="2015"/>
                  </a:lnSpc>
                </a:pPr>
              </a:p>
            </p:txBody>
          </p:sp>
        </p:grpSp>
        <p:sp>
          <p:nvSpPr>
            <p:cNvPr name="Freeform 8" id="8"/>
            <p:cNvSpPr/>
            <p:nvPr/>
          </p:nvSpPr>
          <p:spPr>
            <a:xfrm flipH="false" flipV="false" rot="0">
              <a:off x="867253" y="701287"/>
              <a:ext cx="1275657" cy="1238547"/>
            </a:xfrm>
            <a:custGeom>
              <a:avLst/>
              <a:gdLst/>
              <a:ahLst/>
              <a:cxnLst/>
              <a:rect r="r" b="b" t="t" l="l"/>
              <a:pathLst>
                <a:path h="1238547" w="1275657">
                  <a:moveTo>
                    <a:pt x="0" y="0"/>
                  </a:moveTo>
                  <a:lnTo>
                    <a:pt x="1275658" y="0"/>
                  </a:lnTo>
                  <a:lnTo>
                    <a:pt x="1275658" y="1238548"/>
                  </a:lnTo>
                  <a:lnTo>
                    <a:pt x="0" y="123854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2462448" y="848617"/>
              <a:ext cx="6687913" cy="1006639"/>
            </a:xfrm>
            <a:prstGeom prst="rect">
              <a:avLst/>
            </a:prstGeom>
          </p:spPr>
          <p:txBody>
            <a:bodyPr anchor="t" rtlCol="false" tIns="0" lIns="0" bIns="0" rIns="0">
              <a:spAutoFit/>
            </a:bodyPr>
            <a:lstStyle/>
            <a:p>
              <a:pPr algn="l">
                <a:lnSpc>
                  <a:spcPts val="3044"/>
                </a:lnSpc>
              </a:pPr>
              <a:r>
                <a:rPr lang="en-US" sz="2536" spc="-119" b="true">
                  <a:solidFill>
                    <a:srgbClr val="424242"/>
                  </a:solidFill>
                  <a:latin typeface="Open Sauce Heavy"/>
                  <a:ea typeface="Open Sauce Heavy"/>
                  <a:cs typeface="Open Sauce Heavy"/>
                  <a:sym typeface="Open Sauce Heavy"/>
                </a:rPr>
                <a:t>KEY TAKEAWAYS</a:t>
              </a:r>
            </a:p>
            <a:p>
              <a:pPr algn="l">
                <a:lnSpc>
                  <a:spcPts val="3044"/>
                </a:lnSpc>
              </a:pPr>
            </a:p>
          </p:txBody>
        </p:sp>
        <p:sp>
          <p:nvSpPr>
            <p:cNvPr name="TextBox 10" id="10"/>
            <p:cNvSpPr txBox="true"/>
            <p:nvPr/>
          </p:nvSpPr>
          <p:spPr>
            <a:xfrm rot="0">
              <a:off x="727842" y="2139233"/>
              <a:ext cx="9085487" cy="2491740"/>
            </a:xfrm>
            <a:prstGeom prst="rect">
              <a:avLst/>
            </a:prstGeom>
          </p:spPr>
          <p:txBody>
            <a:bodyPr anchor="t" rtlCol="false" tIns="0" lIns="0" bIns="0" rIns="0">
              <a:spAutoFit/>
            </a:bodyPr>
            <a:lstStyle/>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R scores 89.2 in data science and 58.6 in AI</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Web, game, embedded and mobile all score below 6</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R is a niche, analytics-focused language</a:t>
              </a:r>
            </a:p>
            <a:p>
              <a:pPr algn="l" marL="388618" indent="-194309" lvl="1">
                <a:lnSpc>
                  <a:spcPts val="2519"/>
                </a:lnSpc>
                <a:buFont typeface="Arial"/>
                <a:buChar char="•"/>
              </a:pPr>
              <a:r>
                <a:rPr lang="en-US" sz="1799" spc="-84">
                  <a:solidFill>
                    <a:srgbClr val="424242"/>
                  </a:solidFill>
                  <a:latin typeface="Open Sauce Light"/>
                  <a:ea typeface="Open Sauce Light"/>
                  <a:cs typeface="Open Sauce Light"/>
                  <a:sym typeface="Open Sauce Light"/>
                </a:rPr>
                <a:t>Specialization is a key factor when choosing a language by career goal</a:t>
              </a:r>
            </a:p>
            <a:p>
              <a:pPr algn="l">
                <a:lnSpc>
                  <a:spcPts val="2519"/>
                </a:lnSpc>
              </a:pPr>
            </a:p>
          </p:txBody>
        </p:sp>
      </p:grpSp>
      <p:sp>
        <p:nvSpPr>
          <p:cNvPr name="Freeform 11" id="11"/>
          <p:cNvSpPr/>
          <p:nvPr/>
        </p:nvSpPr>
        <p:spPr>
          <a:xfrm flipH="false" flipV="false" rot="0">
            <a:off x="911697" y="2360937"/>
            <a:ext cx="9598969" cy="6897363"/>
          </a:xfrm>
          <a:custGeom>
            <a:avLst/>
            <a:gdLst/>
            <a:ahLst/>
            <a:cxnLst/>
            <a:rect r="r" b="b" t="t" l="l"/>
            <a:pathLst>
              <a:path h="6897363" w="9598969">
                <a:moveTo>
                  <a:pt x="0" y="0"/>
                </a:moveTo>
                <a:lnTo>
                  <a:pt x="9598969" y="0"/>
                </a:lnTo>
                <a:lnTo>
                  <a:pt x="9598969" y="6897363"/>
                </a:lnTo>
                <a:lnTo>
                  <a:pt x="0" y="6897363"/>
                </a:lnTo>
                <a:lnTo>
                  <a:pt x="0" y="0"/>
                </a:lnTo>
                <a:close/>
              </a:path>
            </a:pathLst>
          </a:custGeom>
          <a:blipFill>
            <a:blip r:embed="rId7"/>
            <a:stretch>
              <a:fillRect l="0" t="-263" r="-1662" b="-263"/>
            </a:stretch>
          </a:blipFill>
        </p:spPr>
      </p:sp>
      <p:sp>
        <p:nvSpPr>
          <p:cNvPr name="TextBox 12" id="12"/>
          <p:cNvSpPr txBox="true"/>
          <p:nvPr/>
        </p:nvSpPr>
        <p:spPr>
          <a:xfrm rot="0">
            <a:off x="1750661" y="736664"/>
            <a:ext cx="10506472" cy="1197554"/>
          </a:xfrm>
          <a:prstGeom prst="rect">
            <a:avLst/>
          </a:prstGeom>
        </p:spPr>
        <p:txBody>
          <a:bodyPr anchor="t" rtlCol="false" tIns="0" lIns="0" bIns="0" rIns="0">
            <a:spAutoFit/>
          </a:bodyPr>
          <a:lstStyle/>
          <a:p>
            <a:pPr algn="l">
              <a:lnSpc>
                <a:spcPts val="4868"/>
              </a:lnSpc>
            </a:pPr>
            <a:r>
              <a:rPr lang="en-US" b="true" sz="3477" spc="-163">
                <a:solidFill>
                  <a:srgbClr val="424242"/>
                </a:solidFill>
                <a:latin typeface="Open Sauce Heavy"/>
                <a:ea typeface="Open Sauce Heavy"/>
                <a:cs typeface="Open Sauce Heavy"/>
                <a:sym typeface="Open Sauce Heavy"/>
              </a:rPr>
              <a:t>TECHNOLOGY LANDSCAPE</a:t>
            </a:r>
          </a:p>
          <a:p>
            <a:pPr algn="l">
              <a:lnSpc>
                <a:spcPts val="4868"/>
              </a:lnSpc>
            </a:pPr>
          </a:p>
        </p:txBody>
      </p:sp>
      <p:sp>
        <p:nvSpPr>
          <p:cNvPr name="TextBox 13" id="13"/>
          <p:cNvSpPr txBox="true"/>
          <p:nvPr/>
        </p:nvSpPr>
        <p:spPr>
          <a:xfrm rot="0">
            <a:off x="1103834" y="1388122"/>
            <a:ext cx="9527090" cy="684042"/>
          </a:xfrm>
          <a:prstGeom prst="rect">
            <a:avLst/>
          </a:prstGeom>
        </p:spPr>
        <p:txBody>
          <a:bodyPr anchor="t" rtlCol="false" tIns="0" lIns="0" bIns="0" rIns="0">
            <a:spAutoFit/>
          </a:bodyPr>
          <a:lstStyle/>
          <a:p>
            <a:pPr algn="just">
              <a:lnSpc>
                <a:spcPts val="2719"/>
              </a:lnSpc>
            </a:pPr>
            <a:r>
              <a:rPr lang="en-US" sz="1942">
                <a:solidFill>
                  <a:srgbClr val="424242"/>
                </a:solidFill>
                <a:latin typeface="Canva Sans"/>
                <a:ea typeface="Canva Sans"/>
                <a:cs typeface="Canva Sans"/>
                <a:sym typeface="Canva Sans"/>
              </a:rPr>
              <a:t>Speci</a:t>
            </a:r>
            <a:r>
              <a:rPr lang="en-US" sz="1942">
                <a:solidFill>
                  <a:srgbClr val="424242"/>
                </a:solidFill>
                <a:latin typeface="Canva Sans"/>
                <a:ea typeface="Canva Sans"/>
                <a:cs typeface="Canva Sans"/>
                <a:sym typeface="Canva Sans"/>
              </a:rPr>
              <a:t>alization scores, example: R</a:t>
            </a:r>
          </a:p>
          <a:p>
            <a:pPr algn="just">
              <a:lnSpc>
                <a:spcPts val="271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444323" y="4944233"/>
            <a:ext cx="12249089" cy="7928501"/>
          </a:xfrm>
          <a:custGeom>
            <a:avLst/>
            <a:gdLst/>
            <a:ahLst/>
            <a:cxnLst/>
            <a:rect r="r" b="b" t="t" l="l"/>
            <a:pathLst>
              <a:path h="7928501" w="12249089">
                <a:moveTo>
                  <a:pt x="0" y="0"/>
                </a:moveTo>
                <a:lnTo>
                  <a:pt x="12249089" y="0"/>
                </a:lnTo>
                <a:lnTo>
                  <a:pt x="12249089" y="7928502"/>
                </a:lnTo>
                <a:lnTo>
                  <a:pt x="0" y="7928502"/>
                </a:lnTo>
                <a:lnTo>
                  <a:pt x="0" y="0"/>
                </a:lnTo>
                <a:close/>
              </a:path>
            </a:pathLst>
          </a:custGeom>
          <a:blipFill>
            <a:blip r:embed="rId2">
              <a:alphaModFix amt="40000"/>
            </a:blip>
            <a:stretch>
              <a:fillRect l="0" t="0" r="0" b="0"/>
            </a:stretch>
          </a:blipFill>
        </p:spPr>
      </p:sp>
      <p:grpSp>
        <p:nvGrpSpPr>
          <p:cNvPr name="Group 3" id="3"/>
          <p:cNvGrpSpPr/>
          <p:nvPr/>
        </p:nvGrpSpPr>
        <p:grpSpPr>
          <a:xfrm rot="0">
            <a:off x="10029508" y="-206665"/>
            <a:ext cx="8462161" cy="10660428"/>
            <a:chOff x="0" y="0"/>
            <a:chExt cx="1311010" cy="1651579"/>
          </a:xfrm>
        </p:grpSpPr>
        <p:sp>
          <p:nvSpPr>
            <p:cNvPr name="Freeform 4" id="4"/>
            <p:cNvSpPr/>
            <p:nvPr/>
          </p:nvSpPr>
          <p:spPr>
            <a:xfrm flipH="false" flipV="false" rot="0">
              <a:off x="0" y="0"/>
              <a:ext cx="1311010" cy="1651579"/>
            </a:xfrm>
            <a:custGeom>
              <a:avLst/>
              <a:gdLst/>
              <a:ahLst/>
              <a:cxnLst/>
              <a:rect r="r" b="b" t="t" l="l"/>
              <a:pathLst>
                <a:path h="1651579" w="1311010">
                  <a:moveTo>
                    <a:pt x="0" y="0"/>
                  </a:moveTo>
                  <a:lnTo>
                    <a:pt x="1311010" y="0"/>
                  </a:lnTo>
                  <a:lnTo>
                    <a:pt x="1311010" y="1651579"/>
                  </a:lnTo>
                  <a:lnTo>
                    <a:pt x="0" y="1651579"/>
                  </a:lnTo>
                  <a:close/>
                </a:path>
              </a:pathLst>
            </a:custGeom>
            <a:blipFill>
              <a:blip r:embed="rId3"/>
              <a:stretch>
                <a:fillRect l="-44365" t="0" r="-44365" b="0"/>
              </a:stretch>
            </a:blipFill>
            <a:ln w="19050" cap="sq">
              <a:solidFill>
                <a:srgbClr val="424242"/>
              </a:solidFill>
              <a:prstDash val="solid"/>
              <a:miter/>
            </a:ln>
          </p:spPr>
        </p:sp>
      </p:grpSp>
      <p:sp>
        <p:nvSpPr>
          <p:cNvPr name="TextBox 5" id="5"/>
          <p:cNvSpPr txBox="true"/>
          <p:nvPr/>
        </p:nvSpPr>
        <p:spPr>
          <a:xfrm rot="0">
            <a:off x="1028700" y="899035"/>
            <a:ext cx="8125274" cy="3710691"/>
          </a:xfrm>
          <a:prstGeom prst="rect">
            <a:avLst/>
          </a:prstGeom>
        </p:spPr>
        <p:txBody>
          <a:bodyPr anchor="t" rtlCol="false" tIns="0" lIns="0" bIns="0" rIns="0">
            <a:spAutoFit/>
          </a:bodyPr>
          <a:lstStyle/>
          <a:p>
            <a:pPr algn="l">
              <a:lnSpc>
                <a:spcPts val="8178"/>
              </a:lnSpc>
            </a:pPr>
            <a:r>
              <a:rPr lang="en-US" sz="8700" spc="-408" b="true">
                <a:solidFill>
                  <a:srgbClr val="424242"/>
                </a:solidFill>
                <a:latin typeface="Open Sauce Heavy"/>
                <a:ea typeface="Open Sauce Heavy"/>
                <a:cs typeface="Open Sauce Heavy"/>
                <a:sym typeface="Open Sauce Heavy"/>
              </a:rPr>
              <a:t>INSIGHT &amp; RECOMMENDATION</a:t>
            </a:r>
          </a:p>
          <a:p>
            <a:pPr algn="l">
              <a:lnSpc>
                <a:spcPts val="4606"/>
              </a:lnSpc>
            </a:pPr>
          </a:p>
        </p:txBody>
      </p:sp>
      <p:grpSp>
        <p:nvGrpSpPr>
          <p:cNvPr name="Group 6" id="6"/>
          <p:cNvGrpSpPr/>
          <p:nvPr/>
        </p:nvGrpSpPr>
        <p:grpSpPr>
          <a:xfrm rot="0">
            <a:off x="899040" y="4842156"/>
            <a:ext cx="16489920" cy="4066328"/>
            <a:chOff x="0" y="0"/>
            <a:chExt cx="21986560" cy="5421770"/>
          </a:xfrm>
        </p:grpSpPr>
        <p:grpSp>
          <p:nvGrpSpPr>
            <p:cNvPr name="Group 7" id="7"/>
            <p:cNvGrpSpPr/>
            <p:nvPr/>
          </p:nvGrpSpPr>
          <p:grpSpPr>
            <a:xfrm rot="0">
              <a:off x="0" y="0"/>
              <a:ext cx="21986560" cy="5421770"/>
              <a:chOff x="0" y="0"/>
              <a:chExt cx="4343024" cy="1070967"/>
            </a:xfrm>
          </p:grpSpPr>
          <p:sp>
            <p:nvSpPr>
              <p:cNvPr name="Freeform 8" id="8"/>
              <p:cNvSpPr/>
              <p:nvPr/>
            </p:nvSpPr>
            <p:spPr>
              <a:xfrm flipH="false" flipV="false" rot="0">
                <a:off x="0" y="0"/>
                <a:ext cx="4343024" cy="1070967"/>
              </a:xfrm>
              <a:custGeom>
                <a:avLst/>
                <a:gdLst/>
                <a:ahLst/>
                <a:cxnLst/>
                <a:rect r="r" b="b" t="t" l="l"/>
                <a:pathLst>
                  <a:path h="1070967" w="4343024">
                    <a:moveTo>
                      <a:pt x="30987" y="0"/>
                    </a:moveTo>
                    <a:lnTo>
                      <a:pt x="4312038" y="0"/>
                    </a:lnTo>
                    <a:cubicBezTo>
                      <a:pt x="4320256" y="0"/>
                      <a:pt x="4328137" y="3265"/>
                      <a:pt x="4333949" y="9076"/>
                    </a:cubicBezTo>
                    <a:cubicBezTo>
                      <a:pt x="4339760" y="14887"/>
                      <a:pt x="4343024" y="22768"/>
                      <a:pt x="4343024" y="30987"/>
                    </a:cubicBezTo>
                    <a:lnTo>
                      <a:pt x="4343024" y="1039980"/>
                    </a:lnTo>
                    <a:cubicBezTo>
                      <a:pt x="4343024" y="1048199"/>
                      <a:pt x="4339760" y="1056080"/>
                      <a:pt x="4333949" y="1061891"/>
                    </a:cubicBezTo>
                    <a:cubicBezTo>
                      <a:pt x="4328137" y="1067702"/>
                      <a:pt x="4320256" y="1070967"/>
                      <a:pt x="4312038" y="1070967"/>
                    </a:cubicBezTo>
                    <a:lnTo>
                      <a:pt x="30987" y="1070967"/>
                    </a:lnTo>
                    <a:cubicBezTo>
                      <a:pt x="22768" y="1070967"/>
                      <a:pt x="14887" y="1067702"/>
                      <a:pt x="9076" y="1061891"/>
                    </a:cubicBezTo>
                    <a:cubicBezTo>
                      <a:pt x="3265" y="1056080"/>
                      <a:pt x="0" y="1048199"/>
                      <a:pt x="0" y="1039980"/>
                    </a:cubicBezTo>
                    <a:lnTo>
                      <a:pt x="0" y="30987"/>
                    </a:lnTo>
                    <a:cubicBezTo>
                      <a:pt x="0" y="22768"/>
                      <a:pt x="3265" y="14887"/>
                      <a:pt x="9076" y="9076"/>
                    </a:cubicBezTo>
                    <a:cubicBezTo>
                      <a:pt x="14887" y="3265"/>
                      <a:pt x="22768" y="0"/>
                      <a:pt x="30987" y="0"/>
                    </a:cubicBezTo>
                    <a:close/>
                  </a:path>
                </a:pathLst>
              </a:custGeom>
              <a:solidFill>
                <a:srgbClr val="D0D7DD"/>
              </a:solidFill>
              <a:ln w="19050" cap="rnd">
                <a:solidFill>
                  <a:srgbClr val="424242"/>
                </a:solidFill>
                <a:prstDash val="solid"/>
                <a:round/>
              </a:ln>
            </p:spPr>
          </p:sp>
          <p:sp>
            <p:nvSpPr>
              <p:cNvPr name="TextBox 9" id="9"/>
              <p:cNvSpPr txBox="true"/>
              <p:nvPr/>
            </p:nvSpPr>
            <p:spPr>
              <a:xfrm>
                <a:off x="0" y="-28575"/>
                <a:ext cx="4343024" cy="1099542"/>
              </a:xfrm>
              <a:prstGeom prst="rect">
                <a:avLst/>
              </a:prstGeom>
            </p:spPr>
            <p:txBody>
              <a:bodyPr anchor="ctr" rtlCol="false" tIns="50800" lIns="50800" bIns="50800" rIns="50800"/>
              <a:lstStyle/>
              <a:p>
                <a:pPr algn="ctr">
                  <a:lnSpc>
                    <a:spcPts val="2015"/>
                  </a:lnSpc>
                </a:pPr>
              </a:p>
            </p:txBody>
          </p:sp>
        </p:grpSp>
        <p:sp>
          <p:nvSpPr>
            <p:cNvPr name="AutoShape 10" id="10"/>
            <p:cNvSpPr/>
            <p:nvPr/>
          </p:nvSpPr>
          <p:spPr>
            <a:xfrm>
              <a:off x="7142953" y="472785"/>
              <a:ext cx="0" cy="4391147"/>
            </a:xfrm>
            <a:prstGeom prst="line">
              <a:avLst/>
            </a:prstGeom>
            <a:ln cap="flat" w="25400">
              <a:solidFill>
                <a:srgbClr val="424242"/>
              </a:solidFill>
              <a:prstDash val="solid"/>
              <a:headEnd type="none" len="sm" w="sm"/>
              <a:tailEnd type="none" len="sm" w="sm"/>
            </a:ln>
          </p:spPr>
        </p:sp>
        <p:sp>
          <p:nvSpPr>
            <p:cNvPr name="AutoShape 11" id="11"/>
            <p:cNvSpPr/>
            <p:nvPr/>
          </p:nvSpPr>
          <p:spPr>
            <a:xfrm>
              <a:off x="14555032" y="472785"/>
              <a:ext cx="0" cy="4391147"/>
            </a:xfrm>
            <a:prstGeom prst="line">
              <a:avLst/>
            </a:prstGeom>
            <a:ln cap="flat" w="25400">
              <a:solidFill>
                <a:srgbClr val="424242"/>
              </a:solidFill>
              <a:prstDash val="solid"/>
              <a:headEnd type="none" len="sm" w="sm"/>
              <a:tailEnd type="none" len="sm" w="sm"/>
            </a:ln>
          </p:spPr>
        </p:sp>
        <p:sp>
          <p:nvSpPr>
            <p:cNvPr name="TextBox 12" id="12"/>
            <p:cNvSpPr txBox="true"/>
            <p:nvPr/>
          </p:nvSpPr>
          <p:spPr>
            <a:xfrm rot="0">
              <a:off x="775876" y="890789"/>
              <a:ext cx="4854183" cy="17777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LEARNERS &amp; JOB SEEKERS</a:t>
              </a:r>
            </a:p>
            <a:p>
              <a:pPr algn="l">
                <a:lnSpc>
                  <a:spcPts val="3383"/>
                </a:lnSpc>
              </a:pPr>
            </a:p>
          </p:txBody>
        </p:sp>
        <p:sp>
          <p:nvSpPr>
            <p:cNvPr name="TextBox 13" id="13"/>
            <p:cNvSpPr txBox="true"/>
            <p:nvPr/>
          </p:nvSpPr>
          <p:spPr>
            <a:xfrm rot="0">
              <a:off x="8104737" y="568035"/>
              <a:ext cx="4854183" cy="17777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HIGHER-PAY SEEKERS</a:t>
              </a:r>
            </a:p>
            <a:p>
              <a:pPr algn="l">
                <a:lnSpc>
                  <a:spcPts val="3383"/>
                </a:lnSpc>
              </a:pPr>
            </a:p>
          </p:txBody>
        </p:sp>
        <p:sp>
          <p:nvSpPr>
            <p:cNvPr name="TextBox 14" id="14"/>
            <p:cNvSpPr txBox="true"/>
            <p:nvPr/>
          </p:nvSpPr>
          <p:spPr>
            <a:xfrm rot="0">
              <a:off x="775876" y="2230828"/>
              <a:ext cx="5544435" cy="9717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Start with Python for the broadest demand and pair it with TypeScript for web roles.</a:t>
              </a:r>
            </a:p>
            <a:p>
              <a:pPr algn="l">
                <a:lnSpc>
                  <a:spcPts val="1960"/>
                </a:lnSpc>
              </a:pPr>
            </a:p>
          </p:txBody>
        </p:sp>
        <p:sp>
          <p:nvSpPr>
            <p:cNvPr name="TextBox 15" id="15"/>
            <p:cNvSpPr txBox="true"/>
            <p:nvPr/>
          </p:nvSpPr>
          <p:spPr>
            <a:xfrm rot="0">
              <a:off x="8076775" y="1908074"/>
              <a:ext cx="5544435" cy="9717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Target Rust, Go, Swift or Kotlin. Expect a smaller, more specialized job market.</a:t>
              </a:r>
            </a:p>
            <a:p>
              <a:pPr algn="l">
                <a:lnSpc>
                  <a:spcPts val="1960"/>
                </a:lnSpc>
              </a:pPr>
            </a:p>
          </p:txBody>
        </p:sp>
        <p:sp>
          <p:nvSpPr>
            <p:cNvPr name="TextBox 16" id="16"/>
            <p:cNvSpPr txBox="true"/>
            <p:nvPr/>
          </p:nvSpPr>
          <p:spPr>
            <a:xfrm rot="0">
              <a:off x="15544110" y="890789"/>
              <a:ext cx="4854183" cy="17777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HIRING MANAGERS</a:t>
              </a:r>
            </a:p>
            <a:p>
              <a:pPr algn="l">
                <a:lnSpc>
                  <a:spcPts val="3383"/>
                </a:lnSpc>
              </a:pPr>
            </a:p>
          </p:txBody>
        </p:sp>
        <p:sp>
          <p:nvSpPr>
            <p:cNvPr name="TextBox 17" id="17"/>
            <p:cNvSpPr txBox="true"/>
            <p:nvPr/>
          </p:nvSpPr>
          <p:spPr>
            <a:xfrm rot="0">
              <a:off x="15544110" y="2230828"/>
              <a:ext cx="5544435" cy="9717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Expect competition for Python and TypeScript talent; Rust and Go talent is scarcer and costs more.</a:t>
              </a:r>
            </a:p>
            <a:p>
              <a:pPr algn="l">
                <a:lnSpc>
                  <a:spcPts val="1960"/>
                </a:lnSpc>
              </a:pPr>
            </a:p>
          </p:txBody>
        </p:sp>
        <p:sp>
          <p:nvSpPr>
            <p:cNvPr name="TextBox 18" id="18"/>
            <p:cNvSpPr txBox="true"/>
            <p:nvPr/>
          </p:nvSpPr>
          <p:spPr>
            <a:xfrm rot="0">
              <a:off x="8104737" y="3065188"/>
              <a:ext cx="4854183" cy="1206246"/>
            </a:xfrm>
            <a:prstGeom prst="rect">
              <a:avLst/>
            </a:prstGeom>
          </p:spPr>
          <p:txBody>
            <a:bodyPr anchor="t" rtlCol="false" tIns="0" lIns="0" bIns="0" rIns="0">
              <a:spAutoFit/>
            </a:bodyPr>
            <a:lstStyle/>
            <a:p>
              <a:pPr algn="l">
                <a:lnSpc>
                  <a:spcPts val="3383"/>
                </a:lnSpc>
              </a:pPr>
              <a:r>
                <a:rPr lang="en-US" sz="3600" spc="-169" b="true">
                  <a:solidFill>
                    <a:srgbClr val="424242"/>
                  </a:solidFill>
                  <a:latin typeface="Open Sauce Heavy"/>
                  <a:ea typeface="Open Sauce Heavy"/>
                  <a:cs typeface="Open Sauce Heavy"/>
                  <a:sym typeface="Open Sauce Heavy"/>
                </a:rPr>
                <a:t>DATA &amp; AI ROLES</a:t>
              </a:r>
            </a:p>
            <a:p>
              <a:pPr algn="l">
                <a:lnSpc>
                  <a:spcPts val="3383"/>
                </a:lnSpc>
              </a:pPr>
            </a:p>
          </p:txBody>
        </p:sp>
        <p:sp>
          <p:nvSpPr>
            <p:cNvPr name="TextBox 19" id="19"/>
            <p:cNvSpPr txBox="true"/>
            <p:nvPr/>
          </p:nvSpPr>
          <p:spPr>
            <a:xfrm rot="0">
              <a:off x="8104737" y="3892170"/>
              <a:ext cx="5544435" cy="971762"/>
            </a:xfrm>
            <a:prstGeom prst="rect">
              <a:avLst/>
            </a:prstGeom>
          </p:spPr>
          <p:txBody>
            <a:bodyPr anchor="t" rtlCol="false" tIns="0" lIns="0" bIns="0" rIns="0">
              <a:spAutoFit/>
            </a:bodyPr>
            <a:lstStyle/>
            <a:p>
              <a:pPr algn="l">
                <a:lnSpc>
                  <a:spcPts val="1960"/>
                </a:lnSpc>
              </a:pPr>
              <a:r>
                <a:rPr lang="en-US" sz="1400" spc="-65">
                  <a:solidFill>
                    <a:srgbClr val="424242"/>
                  </a:solidFill>
                  <a:latin typeface="Open Sauce Light"/>
                  <a:ea typeface="Open Sauce Light"/>
                  <a:cs typeface="Open Sauce Light"/>
                  <a:sym typeface="Open Sauce Light"/>
                </a:rPr>
                <a:t>Use Python, R or Julia. Python has the strongest demand of the three.</a:t>
              </a:r>
            </a:p>
            <a:p>
              <a:pPr algn="l">
                <a:lnSpc>
                  <a:spcPts val="1960"/>
                </a:lnSpc>
              </a:pPr>
            </a:p>
          </p:txBody>
        </p:sp>
      </p:grpSp>
      <p:sp>
        <p:nvSpPr>
          <p:cNvPr name="TextBox 20" id="20"/>
          <p:cNvSpPr txBox="true"/>
          <p:nvPr/>
        </p:nvSpPr>
        <p:spPr>
          <a:xfrm rot="0">
            <a:off x="1028700" y="9365272"/>
            <a:ext cx="11280681" cy="523875"/>
          </a:xfrm>
          <a:prstGeom prst="rect">
            <a:avLst/>
          </a:prstGeom>
        </p:spPr>
        <p:txBody>
          <a:bodyPr anchor="t" rtlCol="false" tIns="0" lIns="0" bIns="0" rIns="0">
            <a:spAutoFit/>
          </a:bodyPr>
          <a:lstStyle/>
          <a:p>
            <a:pPr algn="l">
              <a:lnSpc>
                <a:spcPts val="2100"/>
              </a:lnSpc>
            </a:pPr>
            <a:r>
              <a:rPr lang="en-US" sz="1500" spc="-70" b="true">
                <a:solidFill>
                  <a:srgbClr val="424242"/>
                </a:solidFill>
                <a:latin typeface="Open Sauce Bold"/>
                <a:ea typeface="Open Sauce Bold"/>
                <a:cs typeface="Open Sauce Bold"/>
                <a:sym typeface="Open Sauce Bold"/>
              </a:rPr>
              <a:t>CONCLUSION  </a:t>
            </a:r>
            <a:r>
              <a:rPr lang="en-US" sz="1500" spc="-70">
                <a:solidFill>
                  <a:srgbClr val="424242"/>
                </a:solidFill>
                <a:latin typeface="Open Sauce Light"/>
                <a:ea typeface="Open Sauce Light"/>
                <a:cs typeface="Open Sauce Light"/>
                <a:sym typeface="Open Sauce Light"/>
              </a:rPr>
              <a:t>Python is the best all-round choice, Rust maximizes salary, and TypeScript is the language to watch.</a:t>
            </a:r>
          </a:p>
          <a:p>
            <a:pPr algn="l">
              <a:lnSpc>
                <a:spcPts val="21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25852">
            <a:off x="-2330235" y="2657262"/>
            <a:ext cx="9386678" cy="10557613"/>
          </a:xfrm>
          <a:custGeom>
            <a:avLst/>
            <a:gdLst/>
            <a:ahLst/>
            <a:cxnLst/>
            <a:rect r="r" b="b" t="t" l="l"/>
            <a:pathLst>
              <a:path h="10557613" w="9386678">
                <a:moveTo>
                  <a:pt x="0" y="0"/>
                </a:moveTo>
                <a:lnTo>
                  <a:pt x="9386678" y="0"/>
                </a:lnTo>
                <a:lnTo>
                  <a:pt x="9386678" y="10557613"/>
                </a:lnTo>
                <a:lnTo>
                  <a:pt x="0" y="10557613"/>
                </a:lnTo>
                <a:lnTo>
                  <a:pt x="0" y="0"/>
                </a:lnTo>
                <a:close/>
              </a:path>
            </a:pathLst>
          </a:custGeom>
          <a:blipFill>
            <a:blip r:embed="rId4">
              <a:alphaModFix amt="25000"/>
            </a:blip>
            <a:stretch>
              <a:fillRect l="0" t="0" r="0" b="0"/>
            </a:stretch>
          </a:blipFill>
        </p:spPr>
      </p:sp>
      <p:sp>
        <p:nvSpPr>
          <p:cNvPr name="Freeform 4" id="4"/>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0220103" y="583015"/>
            <a:ext cx="12858845" cy="4933121"/>
          </a:xfrm>
          <a:custGeom>
            <a:avLst/>
            <a:gdLst/>
            <a:ahLst/>
            <a:cxnLst/>
            <a:rect r="r" b="b" t="t" l="l"/>
            <a:pathLst>
              <a:path h="4933121" w="12858845">
                <a:moveTo>
                  <a:pt x="0" y="0"/>
                </a:moveTo>
                <a:lnTo>
                  <a:pt x="12858845" y="0"/>
                </a:lnTo>
                <a:lnTo>
                  <a:pt x="12858845" y="4933121"/>
                </a:lnTo>
                <a:lnTo>
                  <a:pt x="0" y="4933121"/>
                </a:lnTo>
                <a:lnTo>
                  <a:pt x="0" y="0"/>
                </a:lnTo>
                <a:close/>
              </a:path>
            </a:pathLst>
          </a:custGeom>
          <a:blipFill>
            <a:blip r:embed="rId7">
              <a:alphaModFix amt="25000"/>
            </a:blip>
            <a:stretch>
              <a:fillRect l="0" t="0" r="0" b="0"/>
            </a:stretch>
          </a:blipFill>
        </p:spPr>
      </p:sp>
      <p:sp>
        <p:nvSpPr>
          <p:cNvPr name="TextBox 6" id="6"/>
          <p:cNvSpPr txBox="true"/>
          <p:nvPr/>
        </p:nvSpPr>
        <p:spPr>
          <a:xfrm rot="0">
            <a:off x="1434469" y="3567841"/>
            <a:ext cx="7628749" cy="1337216"/>
          </a:xfrm>
          <a:prstGeom prst="rect">
            <a:avLst/>
          </a:prstGeom>
        </p:spPr>
        <p:txBody>
          <a:bodyPr anchor="t" rtlCol="false" tIns="0" lIns="0" bIns="0" rIns="0">
            <a:spAutoFit/>
          </a:bodyPr>
          <a:lstStyle/>
          <a:p>
            <a:pPr algn="l">
              <a:lnSpc>
                <a:spcPts val="9867"/>
              </a:lnSpc>
            </a:pPr>
            <a:r>
              <a:rPr lang="en-US" sz="10497" spc="-493" b="true">
                <a:solidFill>
                  <a:srgbClr val="424242"/>
                </a:solidFill>
                <a:latin typeface="Open Sauce Heavy"/>
                <a:ea typeface="Open Sauce Heavy"/>
                <a:cs typeface="Open Sauce Heavy"/>
                <a:sym typeface="Open Sauce Heavy"/>
              </a:rPr>
              <a:t>Dataset </a:t>
            </a:r>
          </a:p>
        </p:txBody>
      </p:sp>
      <p:sp>
        <p:nvSpPr>
          <p:cNvPr name="TextBox 7" id="7"/>
          <p:cNvSpPr txBox="true"/>
          <p:nvPr/>
        </p:nvSpPr>
        <p:spPr>
          <a:xfrm rot="0">
            <a:off x="1434469" y="5393898"/>
            <a:ext cx="11467733" cy="311150"/>
          </a:xfrm>
          <a:prstGeom prst="rect">
            <a:avLst/>
          </a:prstGeom>
        </p:spPr>
        <p:txBody>
          <a:bodyPr anchor="t" rtlCol="false" tIns="0" lIns="0" bIns="0" rIns="0">
            <a:spAutoFit/>
          </a:bodyPr>
          <a:lstStyle/>
          <a:p>
            <a:pPr algn="l">
              <a:lnSpc>
                <a:spcPts val="2350"/>
              </a:lnSpc>
            </a:pPr>
            <a:r>
              <a:rPr lang="en-US" sz="2500" spc="-117" u="sng">
                <a:solidFill>
                  <a:srgbClr val="0B3A6B"/>
                </a:solidFill>
                <a:latin typeface="Open Sauce"/>
                <a:ea typeface="Open Sauce"/>
                <a:cs typeface="Open Sauce"/>
                <a:sym typeface="Open Sauce"/>
                <a:hlinkClick r:id="rId8" tooltip="https://www.kaggle.com/code/hosseinbadrnezhad/global-programming-languages-intelligence-dataset/input"/>
              </a:rPr>
              <a:t>global-programming-languages-intelligence-dataset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1977201">
            <a:off x="8302125" y="-801031"/>
            <a:ext cx="12791303" cy="9442307"/>
          </a:xfrm>
          <a:custGeom>
            <a:avLst/>
            <a:gdLst/>
            <a:ahLst/>
            <a:cxnLst/>
            <a:rect r="r" b="b" t="t" l="l"/>
            <a:pathLst>
              <a:path h="9442307" w="12791303">
                <a:moveTo>
                  <a:pt x="0" y="0"/>
                </a:moveTo>
                <a:lnTo>
                  <a:pt x="12791302" y="0"/>
                </a:lnTo>
                <a:lnTo>
                  <a:pt x="12791302" y="9442307"/>
                </a:lnTo>
                <a:lnTo>
                  <a:pt x="0" y="9442307"/>
                </a:lnTo>
                <a:lnTo>
                  <a:pt x="0" y="0"/>
                </a:lnTo>
                <a:close/>
              </a:path>
            </a:pathLst>
          </a:custGeom>
          <a:blipFill>
            <a:blip r:embed="rId2">
              <a:alphaModFix amt="42000"/>
            </a:blip>
            <a:stretch>
              <a:fillRect l="0" t="0" r="0" b="0"/>
            </a:stretch>
          </a:blipFill>
        </p:spPr>
      </p:sp>
      <p:sp>
        <p:nvSpPr>
          <p:cNvPr name="Freeform 3" id="3"/>
          <p:cNvSpPr/>
          <p:nvPr/>
        </p:nvSpPr>
        <p:spPr>
          <a:xfrm flipH="false" flipV="false" rot="-10659522">
            <a:off x="-1466084" y="-1104127"/>
            <a:ext cx="6017764" cy="3599717"/>
          </a:xfrm>
          <a:custGeom>
            <a:avLst/>
            <a:gdLst/>
            <a:ahLst/>
            <a:cxnLst/>
            <a:rect r="r" b="b" t="t" l="l"/>
            <a:pathLst>
              <a:path h="3599717" w="6017764">
                <a:moveTo>
                  <a:pt x="0" y="0"/>
                </a:moveTo>
                <a:lnTo>
                  <a:pt x="6017764" y="0"/>
                </a:lnTo>
                <a:lnTo>
                  <a:pt x="6017764" y="3599717"/>
                </a:lnTo>
                <a:lnTo>
                  <a:pt x="0" y="3599717"/>
                </a:lnTo>
                <a:lnTo>
                  <a:pt x="0" y="0"/>
                </a:lnTo>
                <a:close/>
              </a:path>
            </a:pathLst>
          </a:custGeom>
          <a:blipFill>
            <a:blip r:embed="rId3">
              <a:alphaModFix amt="12000"/>
            </a:blip>
            <a:stretch>
              <a:fillRect l="0" t="0" r="0" b="0"/>
            </a:stretch>
          </a:blipFill>
        </p:spPr>
      </p:sp>
      <p:sp>
        <p:nvSpPr>
          <p:cNvPr name="Freeform 4" id="4"/>
          <p:cNvSpPr/>
          <p:nvPr/>
        </p:nvSpPr>
        <p:spPr>
          <a:xfrm flipH="false" flipV="false" rot="0">
            <a:off x="-924022" y="5188961"/>
            <a:ext cx="4716981" cy="6251420"/>
          </a:xfrm>
          <a:custGeom>
            <a:avLst/>
            <a:gdLst/>
            <a:ahLst/>
            <a:cxnLst/>
            <a:rect r="r" b="b" t="t" l="l"/>
            <a:pathLst>
              <a:path h="6251420" w="4716981">
                <a:moveTo>
                  <a:pt x="0" y="0"/>
                </a:moveTo>
                <a:lnTo>
                  <a:pt x="4716981" y="0"/>
                </a:lnTo>
                <a:lnTo>
                  <a:pt x="4716981" y="6251421"/>
                </a:lnTo>
                <a:lnTo>
                  <a:pt x="0" y="6251421"/>
                </a:lnTo>
                <a:lnTo>
                  <a:pt x="0" y="0"/>
                </a:lnTo>
                <a:close/>
              </a:path>
            </a:pathLst>
          </a:custGeom>
          <a:blipFill>
            <a:blip r:embed="rId4">
              <a:alphaModFix amt="2000"/>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86697" y="4549644"/>
            <a:ext cx="10644436" cy="3705225"/>
          </a:xfrm>
          <a:prstGeom prst="rect">
            <a:avLst/>
          </a:prstGeom>
        </p:spPr>
        <p:txBody>
          <a:bodyPr anchor="t" rtlCol="false" tIns="0" lIns="0" bIns="0" rIns="0">
            <a:spAutoFit/>
          </a:bodyPr>
          <a:lstStyle/>
          <a:p>
            <a:pPr algn="l">
              <a:lnSpc>
                <a:spcPts val="14100"/>
              </a:lnSpc>
            </a:pPr>
            <a:r>
              <a:rPr lang="en-US" sz="15000" spc="-705" b="true">
                <a:solidFill>
                  <a:srgbClr val="424242"/>
                </a:solidFill>
                <a:latin typeface="Open Sauce Heavy"/>
                <a:ea typeface="Open Sauce Heavy"/>
                <a:cs typeface="Open Sauce Heavy"/>
                <a:sym typeface="Open Sauce Heavy"/>
              </a:rPr>
              <a:t>Power BI Dashboard</a:t>
            </a:r>
          </a:p>
        </p:txBody>
      </p:sp>
      <p:sp>
        <p:nvSpPr>
          <p:cNvPr name="AutoShape 6" id="6"/>
          <p:cNvSpPr/>
          <p:nvPr/>
        </p:nvSpPr>
        <p:spPr>
          <a:xfrm>
            <a:off x="1045163" y="1480091"/>
            <a:ext cx="16214137" cy="0"/>
          </a:xfrm>
          <a:prstGeom prst="line">
            <a:avLst/>
          </a:prstGeom>
          <a:ln cap="flat" w="19050">
            <a:solidFill>
              <a:srgbClr val="424242"/>
            </a:solidFill>
            <a:prstDash val="solid"/>
            <a:headEnd type="none" len="sm" w="sm"/>
            <a:tailEnd type="none" len="sm" w="sm"/>
          </a:ln>
        </p:spPr>
      </p:sp>
      <p:sp>
        <p:nvSpPr>
          <p:cNvPr name="Freeform 7" id="7"/>
          <p:cNvSpPr/>
          <p:nvPr/>
        </p:nvSpPr>
        <p:spPr>
          <a:xfrm flipH="false" flipV="false" rot="0">
            <a:off x="953566" y="647822"/>
            <a:ext cx="644940" cy="644940"/>
          </a:xfrm>
          <a:custGeom>
            <a:avLst/>
            <a:gdLst/>
            <a:ahLst/>
            <a:cxnLst/>
            <a:rect r="r" b="b" t="t" l="l"/>
            <a:pathLst>
              <a:path h="644940" w="644940">
                <a:moveTo>
                  <a:pt x="0" y="0"/>
                </a:moveTo>
                <a:lnTo>
                  <a:pt x="644939" y="0"/>
                </a:lnTo>
                <a:lnTo>
                  <a:pt x="644939" y="644940"/>
                </a:lnTo>
                <a:lnTo>
                  <a:pt x="0" y="64494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13809146" y="622579"/>
            <a:ext cx="3450154" cy="281559"/>
          </a:xfrm>
          <a:prstGeom prst="rect">
            <a:avLst/>
          </a:prstGeom>
        </p:spPr>
        <p:txBody>
          <a:bodyPr anchor="t" rtlCol="false" tIns="0" lIns="0" bIns="0" rIns="0">
            <a:spAutoFit/>
          </a:bodyPr>
          <a:lstStyle/>
          <a:p>
            <a:pPr algn="r">
              <a:lnSpc>
                <a:spcPts val="2268"/>
              </a:lnSpc>
            </a:pPr>
            <a:r>
              <a:rPr lang="en-US" b="true" sz="1800" spc="-100">
                <a:solidFill>
                  <a:srgbClr val="424242"/>
                </a:solidFill>
                <a:latin typeface="Open Sauce Bold"/>
                <a:ea typeface="Open Sauce Bold"/>
                <a:cs typeface="Open Sauce Bold"/>
                <a:sym typeface="Open Sauce Bold"/>
              </a:rPr>
              <a:t>Presented by :</a:t>
            </a:r>
          </a:p>
        </p:txBody>
      </p:sp>
      <p:sp>
        <p:nvSpPr>
          <p:cNvPr name="TextBox 9" id="9"/>
          <p:cNvSpPr txBox="true"/>
          <p:nvPr/>
        </p:nvSpPr>
        <p:spPr>
          <a:xfrm rot="0">
            <a:off x="13809146" y="920227"/>
            <a:ext cx="3450154" cy="318135"/>
          </a:xfrm>
          <a:prstGeom prst="rect">
            <a:avLst/>
          </a:prstGeom>
        </p:spPr>
        <p:txBody>
          <a:bodyPr anchor="t" rtlCol="false" tIns="0" lIns="0" bIns="0" rIns="0">
            <a:spAutoFit/>
          </a:bodyPr>
          <a:lstStyle/>
          <a:p>
            <a:pPr algn="r">
              <a:lnSpc>
                <a:spcPts val="2520"/>
              </a:lnSpc>
            </a:pPr>
            <a:r>
              <a:rPr lang="en-US" sz="2000" spc="-112">
                <a:solidFill>
                  <a:srgbClr val="424242"/>
                </a:solidFill>
                <a:latin typeface="Open Sauce"/>
                <a:ea typeface="Open Sauce"/>
                <a:cs typeface="Open Sauce"/>
                <a:sym typeface="Open Sauce"/>
              </a:rPr>
              <a:t>Yasmin Zacarias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73025" y="-196320"/>
            <a:ext cx="18629540" cy="10677055"/>
          </a:xfrm>
          <a:custGeom>
            <a:avLst/>
            <a:gdLst/>
            <a:ahLst/>
            <a:cxnLst/>
            <a:rect r="r" b="b" t="t" l="l"/>
            <a:pathLst>
              <a:path h="10677055" w="18629540">
                <a:moveTo>
                  <a:pt x="0" y="0"/>
                </a:moveTo>
                <a:lnTo>
                  <a:pt x="18629540" y="0"/>
                </a:lnTo>
                <a:lnTo>
                  <a:pt x="18629540" y="10677055"/>
                </a:lnTo>
                <a:lnTo>
                  <a:pt x="0" y="10677055"/>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229021" y="-201550"/>
            <a:ext cx="18735465" cy="10737764"/>
          </a:xfrm>
          <a:custGeom>
            <a:avLst/>
            <a:gdLst/>
            <a:ahLst/>
            <a:cxnLst/>
            <a:rect r="r" b="b" t="t" l="l"/>
            <a:pathLst>
              <a:path h="10737764" w="18735465">
                <a:moveTo>
                  <a:pt x="0" y="0"/>
                </a:moveTo>
                <a:lnTo>
                  <a:pt x="18735466" y="0"/>
                </a:lnTo>
                <a:lnTo>
                  <a:pt x="18735466" y="10737764"/>
                </a:lnTo>
                <a:lnTo>
                  <a:pt x="0" y="10737764"/>
                </a:lnTo>
                <a:lnTo>
                  <a:pt x="0" y="0"/>
                </a:lnTo>
                <a:close/>
              </a:path>
            </a:pathLst>
          </a:custGeom>
          <a:blipFill>
            <a:blip r:embed="rId2"/>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54668" y="-185799"/>
            <a:ext cx="18704770" cy="10720171"/>
          </a:xfrm>
          <a:custGeom>
            <a:avLst/>
            <a:gdLst/>
            <a:ahLst/>
            <a:cxnLst/>
            <a:rect r="r" b="b" t="t" l="l"/>
            <a:pathLst>
              <a:path h="10720171" w="18704770">
                <a:moveTo>
                  <a:pt x="0" y="0"/>
                </a:moveTo>
                <a:lnTo>
                  <a:pt x="18704770" y="0"/>
                </a:lnTo>
                <a:lnTo>
                  <a:pt x="18704770" y="10720171"/>
                </a:lnTo>
                <a:lnTo>
                  <a:pt x="0" y="10720171"/>
                </a:lnTo>
                <a:lnTo>
                  <a:pt x="0" y="0"/>
                </a:lnTo>
                <a:close/>
              </a:path>
            </a:pathLst>
          </a:custGeom>
          <a:blipFill>
            <a:blip r:embed="rId2"/>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0D7DD"/>
        </a:solidFill>
      </p:bgPr>
    </p:bg>
    <p:spTree>
      <p:nvGrpSpPr>
        <p:cNvPr id="1" name=""/>
        <p:cNvGrpSpPr/>
        <p:nvPr/>
      </p:nvGrpSpPr>
      <p:grpSpPr>
        <a:xfrm>
          <a:off x="0" y="0"/>
          <a:ext cx="0" cy="0"/>
          <a:chOff x="0" y="0"/>
          <a:chExt cx="0" cy="0"/>
        </a:xfrm>
      </p:grpSpPr>
      <p:sp>
        <p:nvSpPr>
          <p:cNvPr name="Freeform 2" id="2"/>
          <p:cNvSpPr/>
          <p:nvPr/>
        </p:nvSpPr>
        <p:spPr>
          <a:xfrm flipH="false" flipV="false" rot="0">
            <a:off x="-199727" y="-151479"/>
            <a:ext cx="18696891" cy="10715656"/>
          </a:xfrm>
          <a:custGeom>
            <a:avLst/>
            <a:gdLst/>
            <a:ahLst/>
            <a:cxnLst/>
            <a:rect r="r" b="b" t="t" l="l"/>
            <a:pathLst>
              <a:path h="10715656" w="18696891">
                <a:moveTo>
                  <a:pt x="0" y="0"/>
                </a:moveTo>
                <a:lnTo>
                  <a:pt x="18696891" y="0"/>
                </a:lnTo>
                <a:lnTo>
                  <a:pt x="18696891" y="10715656"/>
                </a:lnTo>
                <a:lnTo>
                  <a:pt x="0" y="10715656"/>
                </a:lnTo>
                <a:lnTo>
                  <a:pt x="0" y="0"/>
                </a:lnTo>
                <a:close/>
              </a:path>
            </a:pathLst>
          </a:custGeom>
          <a:blipFill>
            <a:blip r:embed="rId2"/>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DAHXadaf7ts</dc:identifier>
  <dcterms:modified xsi:type="dcterms:W3CDTF">2011-08-01T06:04:30Z</dcterms:modified>
  <cp:revision>1</cp:revision>
  <dc:title>Global Programming Language Analysis</dc:title>
</cp:coreProperties>
</file>